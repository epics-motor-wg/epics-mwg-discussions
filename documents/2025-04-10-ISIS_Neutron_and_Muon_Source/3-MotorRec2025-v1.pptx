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4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embeddings/oleObject1.bin" ContentType="application/vnd.openxmlformats-officedocument.oleObject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_rels/presentation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2.jpeg" ContentType="image/jpeg"/>
  <Override PartName="/ppt/media/image3.jpeg" ContentType="image/jpeg"/>
  <Override PartName="/ppt/media/image6.png" ContentType="image/png"/>
  <Override PartName="/ppt/media/image5.png" ContentType="image/png"/>
  <Override PartName="/ppt/media/image7.png" ContentType="image/png"/>
  <Override PartName="/ppt/media/image9.wmf" ContentType="image/x-wmf"/>
  <Override PartName="/ppt/media/image8.jpeg" ContentType="image/jpeg"/>
  <Override PartName="/ppt/media/image11.wmf" ContentType="image/x-wmf"/>
  <Override PartName="/ppt/media/image4.jpeg" ContentType="image/jpeg"/>
  <Override PartName="/ppt/media/image10.gif" ContentType="image/gif"/>
  <Override PartName="/ppt/media/image1.png" ContentType="image/png"/>
  <Override PartName="/ppt/media/image12.gif" ContentType="image/gif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35.xml.rels" ContentType="application/vnd.openxmlformats-package.relationships+xml"/>
  <Override PartName="/ppt/slides/_rels/slide29.xml.rels" ContentType="application/vnd.openxmlformats-package.relationships+xml"/>
  <Override PartName="/ppt/slides/_rels/slide34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33.xml.rels" ContentType="application/vnd.openxmlformats-package.relationships+xml"/>
  <Override PartName="/ppt/slides/_rels/slide8.xml.rels" ContentType="application/vnd.openxmlformats-package.relationships+xml"/>
  <Override PartName="/ppt/slides/_rels/slide32.xml.rels" ContentType="application/vnd.openxmlformats-package.relationships+xml"/>
  <Override PartName="/ppt/slides/_rels/slide7.xml.rels" ContentType="application/vnd.openxmlformats-package.relationships+xml"/>
  <Override PartName="/ppt/slides/_rels/slide3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30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25.xml.rels" ContentType="application/vnd.openxmlformats-package.relationships+xml"/>
  <Override PartName="/ppt/slides/_rels/slide24.xml.rels" ContentType="application/vnd.openxmlformats-package.relationships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28.xml" ContentType="application/vnd.openxmlformats-officedocument.presentationml.slide+xml"/>
  <Override PartName="/ppt/slides/slide34.xml" ContentType="application/vnd.openxmlformats-officedocument.presentationml.slide+xml"/>
  <Override PartName="/ppt/slides/slide29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Slides/_rels/notesSlide3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37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 type="dt" idx="2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 type="ftr" idx="2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6"/>
          <p:cNvSpPr>
            <a:spLocks noGrp="1"/>
          </p:cNvSpPr>
          <p:nvPr>
            <p:ph type="sldNum" idx="2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F9FB5FE-8D78-46B8-95F9-F7EB0E70E48B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ftr" idx="58"/>
          </p:nvPr>
        </p:nvSpPr>
        <p:spPr>
          <a:xfrm>
            <a:off x="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Go to "View | Header and Footer" to add your organization, sponsor, meeting name here; then, click "Apply to All"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E092CA-C3F0-442C-B104-3805FE71B80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4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D0E105-F103-4A8C-A0AE-880D28B5C53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FDC77-4286-4D3E-8083-A71271FA026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ftr" idx="62"/>
          </p:nvPr>
        </p:nvSpPr>
        <p:spPr>
          <a:xfrm>
            <a:off x="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 to "View | Header and Footer" to add your organization, sponsor, meeting name here; then, click "Apply to All"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PlaceHolder 4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0A0E9E-DD6B-4F36-821F-8BFF2434711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ftr" idx="64"/>
          </p:nvPr>
        </p:nvSpPr>
        <p:spPr>
          <a:xfrm>
            <a:off x="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 to "View | Header and Footer" to add your organization, sponsor, meeting name here; then, click "Apply to All"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529AAE-F24F-4C5D-9DF2-323E7C4C0B6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ftr" idx="66"/>
          </p:nvPr>
        </p:nvSpPr>
        <p:spPr>
          <a:xfrm>
            <a:off x="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Go to "View | Header and Footer" to add your organization, sponsor, meeting name here; then, click "Apply to All"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PlaceHolder 4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170324-DFDC-4C65-B59E-C78B9FAA804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AA9136-1BC7-476B-B997-1AE7732BE1AF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FA8FA0-C368-4DD9-883E-3BFAE3791F5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57A1C8-6997-40CB-B58B-D0F94214095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FE2CFD-FF2B-4526-885E-17BCF279C4E2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51F07D-E4D2-4925-B6B7-F2D6C85BBAB5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03AFAD-1D49-459E-A243-E14E121AD033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40BA08-4561-4137-BE62-AE6B5E5BF44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DFE9EA-17EF-47C4-9D29-CF8124FEF77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5BB5D2-5CE1-46EF-8D0A-5A0AEBB8093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099917-FD52-44D2-B43A-4D6F6D7069C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F90D5E-0407-466B-891A-193E38ACCA31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9617CC-6B36-4AE5-891E-41F9D5AE7F6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2081F6-2D70-4A3A-8588-BD0ADE7DB714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A7AFE8-0378-4E56-B205-B5043D6D30B4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47164A-9B14-4C20-846E-6C57A42A1332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ED8DD5-22FA-4288-AC10-83432644F45C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A9A4E4-D293-47B1-A9FB-D1D344C47BCD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832FA5-25BA-42EA-A737-809B5D9822E7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37BB30-41F3-4061-93F5-58EED3736B6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58579A-D523-4A29-84C8-7B64BE8DEDC9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B882D8-1E08-4546-86E9-595131F7CA5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0920" cy="342792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3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F7E52F-5496-4166-BC27-3A946079828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sldImg"/>
          </p:nvPr>
        </p:nvSpPr>
        <p:spPr>
          <a:xfrm>
            <a:off x="1144440" y="689040"/>
            <a:ext cx="4566240" cy="342648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3"/>
          <p:cNvSpPr>
            <a:spLocks noGrp="1"/>
          </p:cNvSpPr>
          <p:nvPr>
            <p:ph type="body"/>
          </p:nvPr>
        </p:nvSpPr>
        <p:spPr>
          <a:xfrm>
            <a:off x="917640" y="4345560"/>
            <a:ext cx="5021280" cy="4108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4C18BF-B4C2-4E3C-ADE6-43F68310BB0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PlaceHolder 2"/>
          <p:cNvSpPr>
            <a:spLocks noGrp="1"/>
          </p:cNvSpPr>
          <p:nvPr>
            <p:ph type="sldImg"/>
          </p:nvPr>
        </p:nvSpPr>
        <p:spPr>
          <a:xfrm>
            <a:off x="1144440" y="689040"/>
            <a:ext cx="4566240" cy="342648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3"/>
          <p:cNvSpPr>
            <a:spLocks noGrp="1"/>
          </p:cNvSpPr>
          <p:nvPr>
            <p:ph type="body"/>
          </p:nvPr>
        </p:nvSpPr>
        <p:spPr>
          <a:xfrm>
            <a:off x="917640" y="4345560"/>
            <a:ext cx="5021280" cy="41086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Obj" preserve="1">
  <p:cSld name="Title, Text,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98400" y="1460520"/>
            <a:ext cx="4018320" cy="1886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870440" y="1460520"/>
            <a:ext cx="4018320" cy="1886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B4E109-AB58-4A09-9F8E-281F37FF16DC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TextBox 5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Motors, Ron L. Suilter; Torsten Bögershausen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, Text,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98400" y="1460520"/>
            <a:ext cx="4018320" cy="1886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870440" y="1460520"/>
            <a:ext cx="4018320" cy="865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body"/>
          </p:nvPr>
        </p:nvSpPr>
        <p:spPr>
          <a:xfrm>
            <a:off x="4870440" y="2479680"/>
            <a:ext cx="4018320" cy="867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AD68D8-E862-411A-9378-58570A182308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TextBox 6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Motors, Ron L. Suilter; Torsten Bögershausen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TextBox 3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Motors, Ron L. Suilter; Torsten Bögershausen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3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4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BC780E-FF38-411E-B5B2-6C83F9AA731E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Box 3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5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sldNum" idx="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7014EC-C47D-4079-8024-9CE7DD1882CF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79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7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8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53A160-1BC6-452E-9970-7EA85FD710AA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TextBox 8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Motors, Ron L. Suilter; Torsten Bögershausen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TextBox 6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dt" idx="9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sldNum" idx="10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9902B46-9422-4881-889A-43CC1ED2AEE7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TextBox 2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11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1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62A2B5-DBBB-4088-A382-2E0664C28DA3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Box 1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Using Motors, Ron L. Suilter; Torsten Bögershausen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1"/>
          <p:cNvSpPr>
            <a:spLocks noGrp="1"/>
          </p:cNvSpPr>
          <p:nvPr>
            <p:ph type="dt" idx="13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14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8EA622-A8E1-4C51-B145-028EECD04A98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520" cy="114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Box 4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479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400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15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E062E1-8E59-4E18-BF5A-B0802C9F37A9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icon to add picture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dt" idx="17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sldNum" idx="18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BCC5ED-3A76-4B66-B97C-78F5BBA5715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Picture 7" descr="title header_Blue_646.jpg"/>
          <p:cNvPicPr/>
          <p:nvPr/>
        </p:nvPicPr>
        <p:blipFill>
          <a:blip r:embed="rId4"/>
          <a:stretch/>
        </p:blipFill>
        <p:spPr>
          <a:xfrm>
            <a:off x="0" y="0"/>
            <a:ext cx="9142920" cy="1105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Picture 8" descr="title footer_Blue_646.jpg"/>
          <p:cNvPicPr/>
          <p:nvPr/>
        </p:nvPicPr>
        <p:blipFill>
          <a:blip r:embed="rId5"/>
          <a:stretch/>
        </p:blipFill>
        <p:spPr>
          <a:xfrm>
            <a:off x="0" y="6794640"/>
            <a:ext cx="9142920" cy="6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Picture 10" descr=""/>
          <p:cNvPicPr/>
          <p:nvPr/>
        </p:nvPicPr>
        <p:blipFill>
          <a:blip r:embed="rId6"/>
          <a:stretch/>
        </p:blipFill>
        <p:spPr>
          <a:xfrm>
            <a:off x="7315200" y="6400800"/>
            <a:ext cx="1600560" cy="2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Box 6"/>
          <p:cNvSpPr/>
          <p:nvPr/>
        </p:nvSpPr>
        <p:spPr>
          <a:xfrm>
            <a:off x="152280" y="656604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985680" y="1671480"/>
            <a:ext cx="7695000" cy="1068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Box 3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dt" idx="19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sldNum" idx="20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6AE987-7B37-4427-9BBD-5FB2C210CFF2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9" descr=""/>
          <p:cNvPicPr/>
          <p:nvPr/>
        </p:nvPicPr>
        <p:blipFill>
          <a:blip r:embed="rId2"/>
          <a:stretch/>
        </p:blipFill>
        <p:spPr>
          <a:xfrm>
            <a:off x="0" y="6288120"/>
            <a:ext cx="9142920" cy="56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Picture 7" descr="slide header_646.jpg"/>
          <p:cNvPicPr/>
          <p:nvPr/>
        </p:nvPicPr>
        <p:blipFill>
          <a:blip r:embed="rId3"/>
          <a:stretch/>
        </p:blipFill>
        <p:spPr>
          <a:xfrm>
            <a:off x="0" y="0"/>
            <a:ext cx="914292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3"/>
          <p:cNvSpPr/>
          <p:nvPr/>
        </p:nvSpPr>
        <p:spPr>
          <a:xfrm>
            <a:off x="685800" y="6324480"/>
            <a:ext cx="6856920" cy="2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800" strike="noStrike" u="none">
                <a:solidFill>
                  <a:srgbClr val="0070c0"/>
                </a:solidFill>
                <a:effectLst/>
                <a:uFillTx/>
                <a:latin typeface="Calibri"/>
              </a:rPr>
              <a:t>The Advanced Photon Source is an Office of Science User Facility operated for the U.S. Department of Energy Office of Science by Argonne National Laboratory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Click to edit Master title style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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»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dt" idx="21"/>
          </p:nvPr>
        </p:nvSpPr>
        <p:spPr>
          <a:xfrm>
            <a:off x="7010280" y="6572160"/>
            <a:ext cx="1370520" cy="2084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sldNum" idx="2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B1C207-A9F4-4228-80B5-E2D6004C940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hyperlink" Target="https://subversion.xray.aps.anl.gov/synApps/motor/trunk/documentation/motorDeviceDriver.html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://w/motorRecord.html" TargetMode="External"/><Relationship Id="rId2" Type="http://schemas.openxmlformats.org/officeDocument/2006/relationships/hyperlink" Target="http://www.aps.anl.gov/epics/modules/manufacturer.php" TargetMode="External"/><Relationship Id="rId3" Type="http://schemas.openxmlformats.org/officeDocument/2006/relationships/hyperlink" Target="http://www.aps.anl.gov/epics/tech-talk/index.php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epics-modules/twincat-ads" TargetMode="External"/><Relationship Id="rId2" Type="http://schemas.openxmlformats.org/officeDocument/2006/relationships/hyperlink" Target="https://github.com/EuropeanSpallationSource/m-epics-ethercatmc/releases/tag/v3.0.2" TargetMode="External"/><Relationship Id="rId3" Type="http://schemas.openxmlformats.org/officeDocument/2006/relationships/hyperlink" Target="https://github.com/pcdshub/lcls-twincat-motion" TargetMode="External"/><Relationship Id="rId4" Type="http://schemas.openxmlformats.org/officeDocument/2006/relationships/hyperlink" Target="http://www.aps.anl.gov/epics/modules/manufacturer.php" TargetMode="External"/><Relationship Id="rId5" Type="http://schemas.openxmlformats.org/officeDocument/2006/relationships/hyperlink" Target="http://www.aps.anl.gov/epics/modules/manufacturer.php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epics-modules/motor/blob/master/docs/trajectoryScan.html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image" Target="../media/image9.wmf"/><Relationship Id="rId3" Type="http://schemas.openxmlformats.org/officeDocument/2006/relationships/image" Target="../media/image8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0.gif"/><Relationship Id="rId2" Type="http://schemas.openxmlformats.org/officeDocument/2006/relationships/oleObject" Target="../embeddings/oleObject1.bin"/><Relationship Id="rId3" Type="http://schemas.openxmlformats.org/officeDocument/2006/relationships/image" Target="../media/image11.wmf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12.gif"/><Relationship Id="rId2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hyperlink" Target="http://www.aps.anl.gov/bcda/synApps/motor/index.html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https://github.com/EuropeanSpallationSource/motor/" TargetMode="External"/><Relationship Id="rId2" Type="http://schemas.openxmlformats.org/officeDocument/2006/relationships/hyperlink" Target="https://github.com/EuropeanSpallationSource/MCAG_setupMotionDemo%20/" TargetMode="External"/><Relationship Id="rId3" Type="http://schemas.openxmlformats.org/officeDocument/2006/relationships/hyperlink" Target="https://github.com/EuropeanSpallationSource/EuropeanSpallationSource/m-epics-ethercatmc/blob/master/README.md/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985680" y="1671480"/>
            <a:ext cx="7695000" cy="1068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0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EPICS Training 2025</a:t>
            </a:r>
            <a:br>
              <a:rPr sz="3000"/>
            </a:br>
            <a:r>
              <a:rPr b="1" i="1" lang="en-US" sz="24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Using Motors</a:t>
            </a:r>
            <a:br>
              <a:rPr sz="2400"/>
            </a:b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985680" y="3125880"/>
            <a:ext cx="6399720" cy="17514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Torsten Bögershausen,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Originally Ronald L. Sluiter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2015-02-16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Overview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85800" y="1143000"/>
            <a:ext cx="8060400" cy="4736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Acknowledgements.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What’s in the EPICS motor module and what’s it for?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Supported motor controller Manufacturers and models.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Motor record features.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Configuration example.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Feedback.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Retries.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Correction.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Distribution.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Note: All of following refers to R6-9 of the motor distribution.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2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582010-0D2A-40CB-933B-B36BBB64F35D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Acknowledgments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550800" y="1460520"/>
            <a:ext cx="8092080" cy="3034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Jim Kowalkowski - original author, until…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Tim Mooney and Joe Sullivan, until…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Ron Sluiter, since 1998/9, until retirement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Kevin Peterson is the current “module owner”.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Many contributors to the motor module.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Mark, BCDA, Diamond Light Source, vendors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Fork of motor module used at ESS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sldNum" idx="27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A07B5C-45A1-4483-A40D-9CBB83C03F79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Terminology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98400" y="1460520"/>
            <a:ext cx="7790400" cy="3339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MM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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Motor Module distribution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MR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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Motor Record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EGU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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Engineering Units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RPS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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Revolutions Per Second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Stepper motors </a:t>
            </a: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step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and e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ncoders </a:t>
            </a: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tick.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Readback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Wingdings"/>
              </a:rPr>
              <a:t>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Feedback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target position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- a user requested, static, absolute position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(VAL)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commanded position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– the motor controller’s current, dynamic, absolute reference position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(RMP)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8520" y="473040"/>
            <a:ext cx="8760240" cy="46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What’s in the Motor module?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436680" y="1427040"/>
            <a:ext cx="8312760" cy="6505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User displays - medm, CSS/Boy, caQtDm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(mostly commissioning, some application specific; e.g., fly scanning) (Location: &lt;motor&gt;/motorApp/op/*)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Databases –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(templates referenced by *.substitution files)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(Location: &lt;motor&gt;/motorApp/Db)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The MR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(*.dbd and 4,000+ *.cc)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and common device/driver code shared by all device/drivers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(Location: &lt;motor&gt;/motorApp/MotorSrc)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20000"/>
              </a:lnSpc>
              <a:spcBef>
                <a:spcPts val="32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3 different motor module device/driver architectures.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20000"/>
              </a:lnSpc>
              <a:spcBef>
                <a:spcPts val="32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Model 1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(unique device, used asyn for comm.), 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Model 2 &amp; 3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(common device, using asyn)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20000"/>
              </a:lnSpc>
              <a:spcBef>
                <a:spcPts val="241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200" strike="noStrike" u="sng">
                <a:solidFill>
                  <a:srgbClr val="7ab800"/>
                </a:solidFill>
                <a:effectLst/>
                <a:uFillTx/>
                <a:latin typeface="Calibri"/>
                <a:hlinkClick r:id="rId1"/>
              </a:rPr>
              <a:t>https://github.com/epics-modules/motor/blob/master/docs/motorDeviceDriver.html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Vendor specific directories, device/driver code and *.dbd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(README docs) (Location: &lt;motor&gt;/modules/&lt;vendor-name&gt;Src)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Save/restore *.req files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(Location: &lt;motor&gt;/motorApp/Db)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28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66F267-B0B2-4D65-8C34-DE7ADD9DCAF0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nodeType="clickEffect" fill="hold">
                      <p:stCondLst>
                        <p:cond delay="indefinite"/>
                      </p:stCondLst>
                      <p:childTnLst>
                        <p:par>
                          <p:cTn id="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nodeType="clickEffect" fill="hold">
                      <p:stCondLst>
                        <p:cond delay="indefinite"/>
                      </p:stCondLst>
                      <p:childTnLst>
                        <p:par>
                          <p:cTn id="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nodeType="clickEffect" fill="hold">
                      <p:stCondLst>
                        <p:cond delay="indefinite"/>
                      </p:stCondLst>
                      <p:childTnLst>
                        <p:par>
                          <p:cTn id="1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nodeType="clickEffect" fill="hold">
                      <p:stCondLst>
                        <p:cond delay="indefinite"/>
                      </p:stCondLst>
                      <p:childTnLst>
                        <p:par>
                          <p:cTn id="2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nodeType="clickEffect" fill="hold">
                      <p:stCondLst>
                        <p:cond delay="indefinite"/>
                      </p:stCondLst>
                      <p:childTnLst>
                        <p:par>
                          <p:cTn id="2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8520" y="473040"/>
            <a:ext cx="8760240" cy="46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What’s in the Motor module?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698400" y="1460520"/>
            <a:ext cx="8190360" cy="3732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Two IOC build examples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(w/ and w/o Asyn)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with motor device/drivers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(build option) (Location: &lt;motor&gt;/motorExApp)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iocBoot examples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(controller specific st.cmd and supporting *.cmd files) (build option) (Location: &lt;motor&gt;/iocBoot/*)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2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Documentation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(release notes, motor record and device/driver info) (Location: &lt;motor&gt;/documentation)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29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EE3198-BE8E-4A6A-B4E5-2C53D044CD03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" dur="indefinite" restart="never" nodeType="tmRoot">
          <p:childTnLst>
            <p:seq>
              <p:cTn id="30" dur="indefinite" nodeType="mainSeq">
                <p:childTnLst>
                  <p:par>
                    <p:cTn id="31" nodeType="clickEffect" fill="hold">
                      <p:stCondLst>
                        <p:cond delay="indefinite"/>
                      </p:stCondLst>
                      <p:childTnLst>
                        <p:par>
                          <p:cTn id="3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nodeType="clickEffect" fill="hold">
                      <p:stCondLst>
                        <p:cond delay="indefinite"/>
                      </p:stCondLst>
                      <p:childTnLst>
                        <p:par>
                          <p:cTn id="3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nodeType="clickEffect" fill="hold">
                      <p:stCondLst>
                        <p:cond delay="indefinite"/>
                      </p:stCondLst>
                      <p:childTnLst>
                        <p:par>
                          <p:cTn id="4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What’s the Motor module for?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85800" y="1295280"/>
            <a:ext cx="8063280" cy="1032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Device independence – motor hardware is transparent to users.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Same user displays and motor motion behavior, for all devices.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indent="-28584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Box 11"/>
          <p:cNvSpPr/>
          <p:nvPr/>
        </p:nvSpPr>
        <p:spPr>
          <a:xfrm>
            <a:off x="762120" y="5181480"/>
            <a:ext cx="710136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499"/>
              </a:spcBef>
            </a:pPr>
            <a:endParaRPr b="1" lang="en-US" sz="1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13"/>
          <p:cNvSpPr/>
          <p:nvPr/>
        </p:nvSpPr>
        <p:spPr>
          <a:xfrm>
            <a:off x="609480" y="4952880"/>
            <a:ext cx="8063280" cy="9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lvl="1" marL="743040" indent="-28584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40404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Common device and driver level software for all supported controllers.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40404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Unsupported MR features are handled at the device/driver level; typically, by ignoring the request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(the price - LCD motor record features).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Picture 15" descr="motorx"/>
          <p:cNvPicPr/>
          <p:nvPr/>
        </p:nvPicPr>
        <p:blipFill>
          <a:blip r:embed="rId1"/>
          <a:stretch/>
        </p:blipFill>
        <p:spPr>
          <a:xfrm>
            <a:off x="1600200" y="2286000"/>
            <a:ext cx="1356120" cy="243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Box 16"/>
          <p:cNvSpPr/>
          <p:nvPr/>
        </p:nvSpPr>
        <p:spPr>
          <a:xfrm>
            <a:off x="5715000" y="3259080"/>
            <a:ext cx="198000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499"/>
              </a:spcBef>
            </a:pPr>
            <a:endParaRPr b="1" lang="en-US" sz="10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Box 17"/>
          <p:cNvSpPr/>
          <p:nvPr/>
        </p:nvSpPr>
        <p:spPr>
          <a:xfrm>
            <a:off x="3429000" y="2514600"/>
            <a:ext cx="4875840" cy="18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Available operations from this display;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799"/>
              </a:spcBef>
              <a:buClr>
                <a:srgbClr val="40404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Make absolute or incremental moves.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799"/>
              </a:spcBef>
              <a:buClr>
                <a:srgbClr val="40404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Define the current position.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799"/>
              </a:spcBef>
              <a:buClr>
                <a:srgbClr val="404040"/>
              </a:buClr>
              <a:buFont typeface="OpenSymbol"/>
              <a:buAutoNum type="arabicPeriod"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Stop the current move.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without any controller specific information.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nodeType="clickEffect" fill="hold">
                      <p:stCondLst>
                        <p:cond delay="indefinite"/>
                      </p:stCondLst>
                      <p:childTnLst>
                        <p:par>
                          <p:cTn id="4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nodeType="clickEffect" fill="hold">
                      <p:stCondLst>
                        <p:cond delay="indefinite"/>
                      </p:stCondLst>
                      <p:childTnLst>
                        <p:par>
                          <p:cTn id="5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28520" y="473040"/>
            <a:ext cx="8760240" cy="46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Supported Manufacturers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380880" y="1143000"/>
            <a:ext cx="8457120" cy="5009760"/>
          </a:xfrm>
          <a:prstGeom prst="rect">
            <a:avLst/>
          </a:prstGeom>
          <a:noFill/>
          <a:ln w="0">
            <a:noFill/>
          </a:ln>
        </p:spPr>
        <p:txBody>
          <a:bodyPr numCol="2" spcCol="0" lIns="91440" rIns="91440" tIns="45720" bIns="45720" anchor="t">
            <a:noAutofit/>
          </a:bodyPr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Pro-Dex (OMS)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Newport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Schneider Electric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Advanced Control Systems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Mclennan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Physik Instrumente (PI)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MicroMo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Micos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 Faulhaber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Parker Hannifin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New Focus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ACS Motion Control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Spectra-Physics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Thorlabs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Animatics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piezosystem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Kohzu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attocube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Aerotech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Hytec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nPoint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Micronix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SmarAct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Phytron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sldNum" idx="30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A724E8-58FF-4D78-AC11-0070EB883F9C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8520" y="57240"/>
            <a:ext cx="8760240" cy="876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Does motor controller XYZ have EPICS support?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698400" y="1460520"/>
            <a:ext cx="8190360" cy="3316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Motor record document.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https://github.com/epics-modules/motor/blob/master/docs/motorRecord.html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MM location: &lt;motor&gt;/documentation/motorRecord.html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EPICS Hardware Support: by Manufacturer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http://www.aps.anl.gov/epics/modules/manufacturer.php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 all controller support is distributed in the MM; e.g., Galil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EPICS tech-talk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(search - ask)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rgbClr val="7ab800"/>
                </a:solidFill>
                <a:effectLst/>
                <a:uFillTx/>
                <a:latin typeface="Calibri"/>
                <a:hlinkClick r:id="rId3"/>
              </a:rPr>
              <a:t>http://www.aps.anl.gov/epics/tech-talk/index.php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Support for stepper, servo, piezo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(deflection and slip-stick)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motors.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31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B1A2C2-4317-48FD-B317-24085700A8C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5" dur="indefinite" restart="never" nodeType="tmRoot">
          <p:childTnLst>
            <p:seq>
              <p:cTn id="56" dur="indefinite" nodeType="mainSeq">
                <p:childTnLst>
                  <p:par>
                    <p:cTn id="57" nodeType="clickEffect" fill="hold">
                      <p:stCondLst>
                        <p:cond delay="indefinite"/>
                      </p:stCondLst>
                      <p:childTnLst>
                        <p:par>
                          <p:cTn id="5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nodeType="clickEffect" fill="hold">
                      <p:stCondLst>
                        <p:cond delay="indefinite"/>
                      </p:stCondLst>
                      <p:childTnLst>
                        <p:par>
                          <p:cTn id="6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nodeType="clickEffect" fill="hold">
                      <p:stCondLst>
                        <p:cond delay="indefinite"/>
                      </p:stCondLst>
                      <p:childTnLst>
                        <p:par>
                          <p:cTn id="7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nodeType="clickEffect" fill="hold">
                      <p:stCondLst>
                        <p:cond delay="indefinite"/>
                      </p:stCondLst>
                      <p:childTnLst>
                        <p:par>
                          <p:cTn id="8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128520" y="57240"/>
            <a:ext cx="8760240" cy="876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More model 3 drivers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698400" y="1460520"/>
            <a:ext cx="8190360" cy="4558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Beckhoff, TwinCAT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ADS driver: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https://github.com/epics-modules/twincat-ads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ESS, EPICS: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https://github.com/EuropeanSpallationSource/m-epics-ethercatmc/releases/tag/v3.0.2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SLAC: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3"/>
              </a:rPr>
              <a:t>https://github.com/pcdshub/ethercatmc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4"/>
              </a:rPr>
              <a:t>https://github.com/pcdshub/lcls-twincat-motion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EPICS Hardware Support: by Manufacturer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5"/>
              </a:rPr>
              <a:t>http://www.aps.anl.gov/epics/modules/manufacturer.php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Arial"/>
              <a:buChar char="•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Not all controller support is distributed in the MM; </a:t>
            </a:r>
            <a:br>
              <a:rPr sz="1400"/>
            </a:b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e.g. Beckhoff, DeltaTau Power PMAC, 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Galil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EPICS tech-talk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(search - ask)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3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F11A6A-AB0C-40E8-B6D9-A1EF9A22EF8E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83" dur="indefinite" restart="never" nodeType="tmRoot">
          <p:childTnLst>
            <p:seq>
              <p:cTn id="84" dur="indefinite" nodeType="mainSeq">
                <p:childTnLst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- scope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512640" y="1460520"/>
            <a:ext cx="8376120" cy="3491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scope of the MR is limited to single axis, non-coordinated, point to point moves.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multi-axis coordinated motion and trajectory scans see…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https://github.com/epics-modules/motor/blob/master/docs/trajectoryScan.html</a:t>
            </a:r>
            <a:br>
              <a:rPr sz="1400"/>
            </a:b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Coordinated axes can be realized by virtual axes: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Slit system: Gap and Center vs Left and Right Blade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Softmotor: softmotor + calc/transform + hardmotor(s)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33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CBA70F-845F-4357-8C08-D8DFC869EB9F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17" dur="indefinite" restart="never" nodeType="tmRoot">
          <p:childTnLst>
            <p:seq>
              <p:cTn id="118" dur="indefinite" nodeType="mainSeq">
                <p:childTnLst>
                  <p:par>
                    <p:cTn id="119" nodeType="clickEffect" fill="hold">
                      <p:stCondLst>
                        <p:cond delay="indefinite"/>
                      </p:stCondLst>
                      <p:childTnLst>
                        <p:par>
                          <p:cTn id="12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nodeType="clickEffect" fill="hold">
                      <p:stCondLst>
                        <p:cond delay="indefinite"/>
                      </p:stCondLst>
                      <p:childTnLst>
                        <p:par>
                          <p:cTn id="12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- coordinate systems.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0" name="Group 1082"/>
          <p:cNvGrpSpPr/>
          <p:nvPr/>
        </p:nvGrpSpPr>
        <p:grpSpPr>
          <a:xfrm>
            <a:off x="2213640" y="941400"/>
            <a:ext cx="3729240" cy="4575600"/>
            <a:chOff x="2213640" y="941400"/>
            <a:chExt cx="3729240" cy="4575600"/>
          </a:xfrm>
        </p:grpSpPr>
        <p:sp>
          <p:nvSpPr>
            <p:cNvPr id="141" name="Oval 1057"/>
            <p:cNvSpPr/>
            <p:nvPr/>
          </p:nvSpPr>
          <p:spPr>
            <a:xfrm>
              <a:off x="4018320" y="1581120"/>
              <a:ext cx="530640" cy="1440"/>
            </a:xfrm>
            <a:prstGeom prst="ellipse">
              <a:avLst/>
            </a:prstGeom>
            <a:noFill/>
            <a:ln w="12700">
              <a:solidFill>
                <a:srgbClr val="4040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spAutoFit/>
            </a:bodyPr>
            <a:p>
              <a:pPr algn="ctr">
                <a:lnSpc>
                  <a:spcPct val="100000"/>
                </a:lnSpc>
                <a:spcBef>
                  <a:spcPts val="901"/>
                </a:spcBef>
              </a:pPr>
              <a:r>
                <a:rPr b="1" lang="en-US" sz="18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X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Rectangle 1058"/>
            <p:cNvSpPr/>
            <p:nvPr/>
          </p:nvSpPr>
          <p:spPr>
            <a:xfrm>
              <a:off x="3934080" y="941400"/>
              <a:ext cx="71352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RVAL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1060"/>
            <p:cNvSpPr/>
            <p:nvPr/>
          </p:nvSpPr>
          <p:spPr>
            <a:xfrm>
              <a:off x="2456640" y="1787400"/>
              <a:ext cx="76608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MRES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Rectangle 1061"/>
            <p:cNvSpPr/>
            <p:nvPr/>
          </p:nvSpPr>
          <p:spPr>
            <a:xfrm>
              <a:off x="2213640" y="3582720"/>
              <a:ext cx="125136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DIR: +/- 1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1063"/>
            <p:cNvSpPr/>
            <p:nvPr/>
          </p:nvSpPr>
          <p:spPr>
            <a:xfrm>
              <a:off x="5357160" y="4545000"/>
              <a:ext cx="58572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OFF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Oval 1070"/>
            <p:cNvSpPr/>
            <p:nvPr/>
          </p:nvSpPr>
          <p:spPr>
            <a:xfrm>
              <a:off x="4018320" y="3386520"/>
              <a:ext cx="530640" cy="1440"/>
            </a:xfrm>
            <a:prstGeom prst="ellipse">
              <a:avLst/>
            </a:prstGeom>
            <a:noFill/>
            <a:ln w="12700">
              <a:solidFill>
                <a:srgbClr val="4040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spAutoFit/>
            </a:bodyPr>
            <a:p>
              <a:pPr algn="ctr">
                <a:lnSpc>
                  <a:spcPct val="100000"/>
                </a:lnSpc>
                <a:spcBef>
                  <a:spcPts val="901"/>
                </a:spcBef>
              </a:pPr>
              <a:r>
                <a:rPr b="1" lang="en-US" sz="18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X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1071"/>
            <p:cNvSpPr/>
            <p:nvPr/>
          </p:nvSpPr>
          <p:spPr>
            <a:xfrm>
              <a:off x="3927600" y="2675160"/>
              <a:ext cx="71712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DVAL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Rectangle 1072"/>
            <p:cNvSpPr/>
            <p:nvPr/>
          </p:nvSpPr>
          <p:spPr>
            <a:xfrm>
              <a:off x="4013640" y="5515560"/>
              <a:ext cx="570600" cy="1440"/>
            </a:xfrm>
            <a:prstGeom prst="rect">
              <a:avLst/>
            </a:prstGeom>
            <a:noFill/>
            <a:ln w="12700">
              <a:solidFill>
                <a:srgbClr val="40404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 algn="ctr">
                <a:lnSpc>
                  <a:spcPct val="100000"/>
                </a:lnSpc>
                <a:spcBef>
                  <a:spcPts val="799"/>
                </a:spcBef>
              </a:pPr>
              <a:r>
                <a:rPr b="1" lang="en-US" sz="16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VAL</a:t>
              </a:r>
              <a:endPara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Oval 1073"/>
            <p:cNvSpPr/>
            <p:nvPr/>
          </p:nvSpPr>
          <p:spPr>
            <a:xfrm>
              <a:off x="4080240" y="4359240"/>
              <a:ext cx="454680" cy="1440"/>
            </a:xfrm>
            <a:prstGeom prst="ellipse">
              <a:avLst/>
            </a:prstGeom>
            <a:noFill/>
            <a:ln w="12700">
              <a:solidFill>
                <a:srgbClr val="4040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280" bIns="-44280" anchor="ctr">
              <a:spAutoFit/>
            </a:bodyPr>
            <a:p>
              <a:pPr algn="ctr">
                <a:lnSpc>
                  <a:spcPct val="100000"/>
                </a:lnSpc>
                <a:spcBef>
                  <a:spcPts val="901"/>
                </a:spcBef>
              </a:pPr>
              <a:r>
                <a:rPr b="1" lang="en-US" sz="1800" strike="noStrike" u="none">
                  <a:solidFill>
                    <a:schemeClr val="dk1"/>
                  </a:solidFill>
                  <a:effectLst/>
                  <a:uFillTx/>
                  <a:latin typeface="Arial"/>
                </a:rPr>
                <a:t>+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50" name="AutoShape 1074"/>
            <p:cNvCxnSpPr>
              <a:stCxn id="142" idx="2"/>
              <a:endCxn id="141" idx="0"/>
            </p:cNvCxnSpPr>
            <p:nvPr/>
          </p:nvCxnSpPr>
          <p:spPr>
            <a:xfrm flipH="1">
              <a:off x="4283640" y="942840"/>
              <a:ext cx="7560" cy="63864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1" name="AutoShape 1075"/>
            <p:cNvCxnSpPr>
              <a:endCxn id="141" idx="2"/>
            </p:cNvCxnSpPr>
            <p:nvPr/>
          </p:nvCxnSpPr>
          <p:spPr>
            <a:xfrm flipV="1">
              <a:off x="3291120" y="1581840"/>
              <a:ext cx="727560" cy="53388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2" name="AutoShape 1076"/>
            <p:cNvCxnSpPr>
              <a:stCxn id="141" idx="4"/>
              <a:endCxn id="147" idx="0"/>
            </p:cNvCxnSpPr>
            <p:nvPr/>
          </p:nvCxnSpPr>
          <p:spPr>
            <a:xfrm>
              <a:off x="4283640" y="1582560"/>
              <a:ext cx="2880" cy="109296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3" name="AutoShape 1077"/>
            <p:cNvCxnSpPr>
              <a:stCxn id="147" idx="2"/>
              <a:endCxn id="146" idx="0"/>
            </p:cNvCxnSpPr>
            <p:nvPr/>
          </p:nvCxnSpPr>
          <p:spPr>
            <a:xfrm flipH="1">
              <a:off x="4283640" y="2676600"/>
              <a:ext cx="2880" cy="71028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4" name="AutoShape 1078"/>
            <p:cNvCxnSpPr>
              <a:stCxn id="144" idx="3"/>
              <a:endCxn id="146" idx="2"/>
            </p:cNvCxnSpPr>
            <p:nvPr/>
          </p:nvCxnSpPr>
          <p:spPr>
            <a:xfrm flipV="1">
              <a:off x="3465000" y="3387240"/>
              <a:ext cx="553680" cy="19656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5" name="AutoShape 1079"/>
            <p:cNvCxnSpPr/>
            <p:nvPr/>
          </p:nvCxnSpPr>
          <p:spPr>
            <a:xfrm>
              <a:off x="4308840" y="4182840"/>
              <a:ext cx="13680" cy="42156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6" name="AutoShape 1080"/>
            <p:cNvCxnSpPr>
              <a:stCxn id="145" idx="1"/>
              <a:endCxn id="149" idx="6"/>
            </p:cNvCxnSpPr>
            <p:nvPr/>
          </p:nvCxnSpPr>
          <p:spPr>
            <a:xfrm flipH="1" flipV="1">
              <a:off x="4534920" y="4359960"/>
              <a:ext cx="822600" cy="18612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  <p:cxnSp>
          <p:nvCxnSpPr>
            <p:cNvPr id="157" name="AutoShape 1081"/>
            <p:cNvCxnSpPr>
              <a:stCxn id="149" idx="4"/>
              <a:endCxn id="148" idx="0"/>
            </p:cNvCxnSpPr>
            <p:nvPr/>
          </p:nvCxnSpPr>
          <p:spPr>
            <a:xfrm flipH="1">
              <a:off x="4298760" y="4360680"/>
              <a:ext cx="9360" cy="1155240"/>
            </a:xfrm>
            <a:prstGeom prst="straightConnector1">
              <a:avLst/>
            </a:prstGeom>
            <a:ln w="12700">
              <a:solidFill>
                <a:srgbClr val="404040"/>
              </a:solidFill>
              <a:round/>
              <a:tailEnd len="med" type="triangle" w="med"/>
            </a:ln>
          </p:spPr>
        </p:cxnSp>
      </p:grpSp>
      <p:sp>
        <p:nvSpPr>
          <p:cNvPr id="158" name="Text Box 1083"/>
          <p:cNvSpPr/>
          <p:nvPr/>
        </p:nvSpPr>
        <p:spPr>
          <a:xfrm>
            <a:off x="6544440" y="1095480"/>
            <a:ext cx="703800" cy="410760"/>
          </a:xfrm>
          <a:prstGeom prst="rect">
            <a:avLst/>
          </a:prstGeom>
          <a:solidFill>
            <a:schemeClr val="bg2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Raw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Box 1084"/>
          <p:cNvSpPr/>
          <p:nvPr/>
        </p:nvSpPr>
        <p:spPr>
          <a:xfrm>
            <a:off x="6537240" y="2809800"/>
            <a:ext cx="660960" cy="410760"/>
          </a:xfrm>
          <a:prstGeom prst="rect">
            <a:avLst/>
          </a:prstGeom>
          <a:solidFill>
            <a:schemeClr val="bg2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Dial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Box 1085"/>
          <p:cNvSpPr/>
          <p:nvPr/>
        </p:nvSpPr>
        <p:spPr>
          <a:xfrm>
            <a:off x="6523920" y="5587920"/>
            <a:ext cx="746280" cy="410760"/>
          </a:xfrm>
          <a:prstGeom prst="rect">
            <a:avLst/>
          </a:prstGeom>
          <a:solidFill>
            <a:schemeClr val="bg2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User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AutoShape 1086"/>
          <p:cNvSpPr/>
          <p:nvPr/>
        </p:nvSpPr>
        <p:spPr>
          <a:xfrm rot="5400000">
            <a:off x="6374160" y="1877040"/>
            <a:ext cx="975240" cy="484560"/>
          </a:xfrm>
          <a:prstGeom prst="rightArrow">
            <a:avLst>
              <a:gd name="adj1" fmla="val 50000"/>
              <a:gd name="adj2" fmla="val 50245"/>
            </a:avLst>
          </a:prstGeom>
          <a:solidFill>
            <a:schemeClr val="hlink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2" name="AutoShape 1087"/>
          <p:cNvSpPr/>
          <p:nvPr/>
        </p:nvSpPr>
        <p:spPr>
          <a:xfrm rot="5400000">
            <a:off x="6374160" y="4132800"/>
            <a:ext cx="975240" cy="484560"/>
          </a:xfrm>
          <a:prstGeom prst="rightArrow">
            <a:avLst>
              <a:gd name="adj1" fmla="val 50000"/>
              <a:gd name="adj2" fmla="val 50245"/>
            </a:avLst>
          </a:prstGeom>
          <a:solidFill>
            <a:schemeClr val="hlink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Box 1088"/>
          <p:cNvSpPr/>
          <p:nvPr/>
        </p:nvSpPr>
        <p:spPr>
          <a:xfrm>
            <a:off x="563400" y="2746440"/>
            <a:ext cx="1011600" cy="410760"/>
          </a:xfrm>
          <a:prstGeom prst="rect">
            <a:avLst/>
          </a:prstGeom>
          <a:solidFill>
            <a:schemeClr val="bg2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EGU’s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Box 1089"/>
          <p:cNvSpPr/>
          <p:nvPr/>
        </p:nvSpPr>
        <p:spPr>
          <a:xfrm>
            <a:off x="114480" y="1046160"/>
            <a:ext cx="1829160" cy="401040"/>
          </a:xfrm>
          <a:prstGeom prst="rect">
            <a:avLst/>
          </a:prstGeom>
          <a:solidFill>
            <a:schemeClr val="bg2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spcBef>
                <a:spcPts val="1001"/>
              </a:spcBef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steps or ticks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AutoShape 1090"/>
          <p:cNvSpPr/>
          <p:nvPr/>
        </p:nvSpPr>
        <p:spPr>
          <a:xfrm rot="5400000">
            <a:off x="599400" y="1849320"/>
            <a:ext cx="852840" cy="484560"/>
          </a:xfrm>
          <a:prstGeom prst="rightArrow">
            <a:avLst>
              <a:gd name="adj1" fmla="val 50000"/>
              <a:gd name="adj2" fmla="val 43954"/>
            </a:avLst>
          </a:prstGeom>
          <a:solidFill>
            <a:schemeClr val="hlink"/>
          </a:solidFill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4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569E9E-BCC2-4335-B748-9D24B1BAC2D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- coordinate systems.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380880" y="1155600"/>
            <a:ext cx="8507880" cy="5015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Some controllers use raw units to communicate.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8120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MR communicates to device support in raw units.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8120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Position, velocity and acceleration MR commands to device support are in steps, steps/sec and steps/sec^2.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Other controllers communicate in engineering units (EGU’s); e.g., inch, mm, degrees. Device support handles the conversion.</a:t>
            </a:r>
            <a:br>
              <a:rPr sz="1800"/>
            </a:b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(motorRecord of ess-master can be configured to use EGU’s)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Motor resolution field (MRES) converts raw values to dial values.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Convert raw target position (RVAL) to dial target (DVAL):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5280" indent="-38088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DVAL [EGU’s] = RVAL [steps] * MRES [EGU’s/step]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User units are based on dial units, the User Direction field (DIR) and the User Offset field (OFF)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Convert dial target position (DVAL) to user target (VAL):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5280" indent="-38088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VAL = (DVAL * DIR) + OFF; where DIR = +/- 1.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35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EE41B3-1B39-464C-B9FA-EDF2E2A33C0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7" dur="indefinite" restart="never" nodeType="tmRoot">
          <p:childTnLst>
            <p:seq>
              <p:cTn id="138" dur="indefinite" nodeType="mainSeq">
                <p:childTnLst>
                  <p:par>
                    <p:cTn id="139" nodeType="clickEffect" fill="hold">
                      <p:stCondLst>
                        <p:cond delay="indefinite"/>
                      </p:stCondLst>
                      <p:childTnLst>
                        <p:par>
                          <p:cTn id="14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nodeType="clickEffect" fill="hold">
                      <p:stCondLst>
                        <p:cond delay="indefinite"/>
                      </p:stCondLst>
                      <p:childTnLst>
                        <p:par>
                          <p:cTn id="14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4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nodeType="clickEffect" fill="hold">
                      <p:stCondLst>
                        <p:cond delay="indefinite"/>
                      </p:stCondLst>
                      <p:childTnLst>
                        <p:par>
                          <p:cTn id="15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– Move types 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512640" y="1460520"/>
            <a:ext cx="8376120" cy="1076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Absolute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(VAL, DVAL, RVAL)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Relative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(RLV)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Incremental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(TWF, TWR, TWV)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3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A9E439-E6F6-4C6C-B373-847876DEAA17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59" dur="indefinite" restart="never" nodeType="tmRoot">
          <p:childTnLst>
            <p:seq>
              <p:cTn id="160" dur="indefinite" nodeType="mainSeq">
                <p:childTnLst>
                  <p:par>
                    <p:cTn id="161" nodeType="clickEffect" fill="hold">
                      <p:stCondLst>
                        <p:cond delay="indefinite"/>
                      </p:stCondLst>
                      <p:childTnLst>
                        <p:par>
                          <p:cTn id="16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/>
          </p:nvPr>
        </p:nvSpPr>
        <p:spPr>
          <a:xfrm>
            <a:off x="838080" y="1968480"/>
            <a:ext cx="8469720" cy="768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Oval 15"/>
          <p:cNvSpPr/>
          <p:nvPr/>
        </p:nvSpPr>
        <p:spPr>
          <a:xfrm>
            <a:off x="1263600" y="29304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VAL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Oval 15"/>
          <p:cNvSpPr/>
          <p:nvPr/>
        </p:nvSpPr>
        <p:spPr>
          <a:xfrm>
            <a:off x="6713640" y="11008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DVAL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Oval 15"/>
          <p:cNvSpPr/>
          <p:nvPr/>
        </p:nvSpPr>
        <p:spPr>
          <a:xfrm>
            <a:off x="6699240" y="3610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RVAL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Oval 15"/>
          <p:cNvSpPr/>
          <p:nvPr/>
        </p:nvSpPr>
        <p:spPr>
          <a:xfrm>
            <a:off x="1160640" y="1966320"/>
            <a:ext cx="1010160" cy="73764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TWF/TWR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5"/>
          <p:cNvSpPr/>
          <p:nvPr/>
        </p:nvSpPr>
        <p:spPr>
          <a:xfrm>
            <a:off x="1189080" y="121536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RLV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Oval 15"/>
          <p:cNvSpPr/>
          <p:nvPr/>
        </p:nvSpPr>
        <p:spPr>
          <a:xfrm>
            <a:off x="1784520" y="28360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TWV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Line 18"/>
          <p:cNvSpPr/>
          <p:nvPr/>
        </p:nvSpPr>
        <p:spPr>
          <a:xfrm>
            <a:off x="2171520" y="1427040"/>
            <a:ext cx="1346040" cy="1015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Line 18"/>
          <p:cNvSpPr/>
          <p:nvPr/>
        </p:nvSpPr>
        <p:spPr>
          <a:xfrm>
            <a:off x="2259000" y="522000"/>
            <a:ext cx="1258560" cy="5796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Line 18"/>
          <p:cNvSpPr/>
          <p:nvPr/>
        </p:nvSpPr>
        <p:spPr>
          <a:xfrm flipV="1">
            <a:off x="2171520" y="1798560"/>
            <a:ext cx="1297080" cy="3222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Line 18"/>
          <p:cNvSpPr/>
          <p:nvPr/>
        </p:nvSpPr>
        <p:spPr>
          <a:xfrm flipV="1">
            <a:off x="2500200" y="1854000"/>
            <a:ext cx="1314360" cy="9968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Line 11"/>
          <p:cNvSpPr/>
          <p:nvPr/>
        </p:nvSpPr>
        <p:spPr>
          <a:xfrm flipH="1">
            <a:off x="5848200" y="563400"/>
            <a:ext cx="851040" cy="5428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6" name="Line 11"/>
          <p:cNvSpPr/>
          <p:nvPr/>
        </p:nvSpPr>
        <p:spPr>
          <a:xfrm flipH="1" flipV="1">
            <a:off x="4992480" y="1106280"/>
            <a:ext cx="1720800" cy="2142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sldNum" idx="37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794AC6-647D-4881-BE16-77300897AC34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3" dur="indefinite" restart="never" nodeType="tmRoot">
          <p:childTnLst>
            <p:seq>
              <p:cTn id="174" dur="indefinite" nodeType="mainSeq">
                <p:childTnLst>
                  <p:par>
                    <p:cTn id="175" nodeType="clickEffect" fill="hold">
                      <p:stCondLst>
                        <p:cond delay="indefinite"/>
                      </p:stCondLst>
                      <p:childTnLst>
                        <p:par>
                          <p:cTn id="17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17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128520" y="473040"/>
            <a:ext cx="8760240" cy="46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– Velocity and Acceleration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/>
          </p:nvPr>
        </p:nvSpPr>
        <p:spPr>
          <a:xfrm>
            <a:off x="512640" y="1460520"/>
            <a:ext cx="8376120" cy="1877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Maximum Velocity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(VMAX)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Slew Velocity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(VELO)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Base Velocity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(VBAS)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– for stepper motors only to minimize resonance.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Slew Acceleration time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(ACCL [sec])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– </a:t>
            </a:r>
            <a:r>
              <a:rPr b="0" lang="da-DK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acc. rate [step/s^2] = (VELO - VBAS) / ACCL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38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rgbClr val="40404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CF7CE4-5A7C-4BA4-95AC-7ACCE3B748F6}" type="slidenum">
              <a:rPr b="0" lang="en-US" sz="9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79" dur="indefinite" restart="never" nodeType="tmRoot">
          <p:childTnLst>
            <p:seq>
              <p:cTn id="180" dur="indefinite" nodeType="mainSeq">
                <p:childTnLst>
                  <p:par>
                    <p:cTn id="181" nodeType="clickEffect" fill="hold">
                      <p:stCondLst>
                        <p:cond delay="indefinite"/>
                      </p:stCondLst>
                      <p:childTnLst>
                        <p:par>
                          <p:cTn id="18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1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5" fill="hold">
                      <p:stCondLst>
                        <p:cond delay="indefinite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>
                      <p:stCondLst>
                        <p:cond delay="indefinite"/>
                      </p:stCondLst>
                      <p:childTnLst>
                        <p:par>
                          <p:cTn id="190" fill="hold">
                            <p:stCondLst>
                              <p:cond delay="0"/>
                            </p:stCondLst>
                            <p:childTnLst>
                              <p:par>
                                <p:cTn id="1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/>
          </p:nvPr>
        </p:nvSpPr>
        <p:spPr>
          <a:xfrm>
            <a:off x="990720" y="1928160"/>
            <a:ext cx="8469720" cy="768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Oval 15"/>
          <p:cNvSpPr/>
          <p:nvPr/>
        </p:nvSpPr>
        <p:spPr>
          <a:xfrm>
            <a:off x="1185120" y="17524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404040"/>
                </a:solidFill>
                <a:effectLst/>
                <a:uFillTx/>
                <a:latin typeface="Arial"/>
              </a:rPr>
              <a:t>VMAX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Oval 15"/>
          <p:cNvSpPr/>
          <p:nvPr/>
        </p:nvSpPr>
        <p:spPr>
          <a:xfrm>
            <a:off x="1219320" y="398556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404040"/>
                </a:solidFill>
                <a:effectLst/>
                <a:uFillTx/>
                <a:latin typeface="Arial"/>
              </a:rPr>
              <a:t>ACCL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Oval 15"/>
          <p:cNvSpPr/>
          <p:nvPr/>
        </p:nvSpPr>
        <p:spPr>
          <a:xfrm>
            <a:off x="1185120" y="25732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404040"/>
                </a:solidFill>
                <a:effectLst/>
                <a:uFillTx/>
                <a:latin typeface="Arial"/>
              </a:rPr>
              <a:t>VELO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Oval 15"/>
          <p:cNvSpPr/>
          <p:nvPr/>
        </p:nvSpPr>
        <p:spPr>
          <a:xfrm>
            <a:off x="1185120" y="3218400"/>
            <a:ext cx="1010160" cy="43380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404040"/>
                </a:solidFill>
                <a:effectLst/>
                <a:uFillTx/>
                <a:latin typeface="Arial"/>
              </a:rPr>
              <a:t>VBAS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Line 18"/>
          <p:cNvSpPr/>
          <p:nvPr/>
        </p:nvSpPr>
        <p:spPr>
          <a:xfrm>
            <a:off x="2185200" y="2825640"/>
            <a:ext cx="1346040" cy="1015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404040"/>
              </a:solidFill>
              <a:effectLst/>
              <a:uFillTx/>
              <a:latin typeface="Calibri"/>
            </a:endParaRPr>
          </a:p>
        </p:txBody>
      </p:sp>
      <p:sp>
        <p:nvSpPr>
          <p:cNvPr id="198" name="Line 18"/>
          <p:cNvSpPr/>
          <p:nvPr/>
        </p:nvSpPr>
        <p:spPr>
          <a:xfrm>
            <a:off x="2185200" y="1979640"/>
            <a:ext cx="1396080" cy="6418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404040"/>
              </a:solidFill>
              <a:effectLst/>
              <a:uFillTx/>
              <a:latin typeface="Calibri"/>
            </a:endParaRPr>
          </a:p>
        </p:txBody>
      </p:sp>
      <p:sp>
        <p:nvSpPr>
          <p:cNvPr id="199" name="Line 18"/>
          <p:cNvSpPr/>
          <p:nvPr/>
        </p:nvSpPr>
        <p:spPr>
          <a:xfrm flipV="1">
            <a:off x="2209680" y="3124080"/>
            <a:ext cx="1371600" cy="3294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404040"/>
              </a:solidFill>
              <a:effectLst/>
              <a:uFillTx/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sldNum" idx="39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rgbClr val="404040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860E16-B219-4472-A18B-86FF62AFEDF4}" type="slidenum">
              <a:rPr b="0" lang="en-US" sz="9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Line 18"/>
          <p:cNvSpPr/>
          <p:nvPr/>
        </p:nvSpPr>
        <p:spPr>
          <a:xfrm flipV="1">
            <a:off x="2230200" y="3353400"/>
            <a:ext cx="1364400" cy="7927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40404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7" dur="indefinite" restart="never" nodeType="tmRoot">
          <p:childTnLst>
            <p:seq>
              <p:cTn id="198" dur="indefinite" nodeType="mainSeq">
                <p:childTnLst>
                  <p:par>
                    <p:cTn id="199" nodeType="clickEffect" fill="hold">
                      <p:stCondLst>
                        <p:cond delay="indefinite"/>
                      </p:stCondLst>
                      <p:childTnLst>
                        <p:par>
                          <p:cTn id="20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01" nodeType="clickEffect" fill="hold" presetClass="entr" presetID="1">
                                  <p:stCondLst>
                                    <p:cond delay="0"/>
                                  </p:stCondLst>
                                  <p:endCondLst>
                                    <p:cond delay="0" evt="begin">
                                      <p:tn val="20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128520" y="473040"/>
            <a:ext cx="8760240" cy="460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– Homing, Jogging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512640" y="1460520"/>
            <a:ext cx="8376120" cy="18770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Home search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(HOMF, HOMR, HVEL)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Jogging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(JOGF, JOGR, JVEL, JAR)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Safety issues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Commissioning a stage? Check hardware limit switches 1</a:t>
            </a:r>
            <a:r>
              <a:rPr b="0" lang="en-US" sz="1400" strike="noStrike" u="none" baseline="30000">
                <a:solidFill>
                  <a:srgbClr val="000000"/>
                </a:solidFill>
                <a:effectLst/>
                <a:uFillTx/>
                <a:latin typeface="Calibri"/>
              </a:rPr>
              <a:t>st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pinch hazards, remote operation, servo systems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40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B7104A-809D-4BB2-92F9-6380A17FD255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03" dur="indefinite" restart="never" nodeType="tmRoot">
          <p:childTnLst>
            <p:seq>
              <p:cTn id="204" dur="indefinite" nodeType="mainSeq">
                <p:childTnLst>
                  <p:par>
                    <p:cTn id="205" nodeType="clickEffect" fill="hold">
                      <p:stCondLst>
                        <p:cond delay="indefinite"/>
                      </p:stCondLst>
                      <p:childTnLst>
                        <p:par>
                          <p:cTn id="20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nodeType="clickEffect" fill="hold">
                      <p:stCondLst>
                        <p:cond delay="indefinite"/>
                      </p:stCondLst>
                      <p:childTnLst>
                        <p:par>
                          <p:cTn id="21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nodeType="clickEffect" fill="hold">
                      <p:stCondLst>
                        <p:cond delay="indefinite"/>
                      </p:stCondLst>
                      <p:childTnLst>
                        <p:par>
                          <p:cTn id="21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Oval 15"/>
          <p:cNvSpPr/>
          <p:nvPr/>
        </p:nvSpPr>
        <p:spPr>
          <a:xfrm>
            <a:off x="6711840" y="332352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JAR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Line 11"/>
          <p:cNvSpPr/>
          <p:nvPr/>
        </p:nvSpPr>
        <p:spPr>
          <a:xfrm flipH="1">
            <a:off x="5789520" y="2809800"/>
            <a:ext cx="922320" cy="1141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Line 11"/>
          <p:cNvSpPr/>
          <p:nvPr/>
        </p:nvSpPr>
        <p:spPr>
          <a:xfrm flipH="1" flipV="1">
            <a:off x="5789520" y="3311280"/>
            <a:ext cx="922320" cy="1810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6796080" y="1164240"/>
            <a:ext cx="186588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JOGF/JOGR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Line 18"/>
          <p:cNvSpPr/>
          <p:nvPr/>
        </p:nvSpPr>
        <p:spPr>
          <a:xfrm>
            <a:off x="2562120" y="1528560"/>
            <a:ext cx="1762200" cy="2332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Oval 15"/>
          <p:cNvSpPr/>
          <p:nvPr/>
        </p:nvSpPr>
        <p:spPr>
          <a:xfrm>
            <a:off x="709560" y="1303920"/>
            <a:ext cx="185328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HOMF/HOMR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Line 11"/>
          <p:cNvSpPr/>
          <p:nvPr/>
        </p:nvSpPr>
        <p:spPr>
          <a:xfrm flipH="1">
            <a:off x="5057640" y="1366560"/>
            <a:ext cx="1738440" cy="2239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5"/>
          <p:cNvSpPr/>
          <p:nvPr/>
        </p:nvSpPr>
        <p:spPr>
          <a:xfrm>
            <a:off x="6711840" y="257580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JVEL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1"/>
          <p:cNvSpPr>
            <a:spLocks noGrp="1"/>
          </p:cNvSpPr>
          <p:nvPr>
            <p:ph type="sldNum" idx="41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9964BC-0DD0-478A-9CD8-0B700C3F8AE3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Features – Set position, soft travel limits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512640" y="1460520"/>
            <a:ext cx="8376120" cy="1137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Define current position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(SET, FOFF)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Software travel limits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(HLM, LLM, DHLM, DLLM) (disabled if  DHLM = DLLM = 0)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4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E077CD-AE71-4C70-9897-51D13D809441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Rectangle 1"/>
          <p:cNvSpPr/>
          <p:nvPr/>
        </p:nvSpPr>
        <p:spPr>
          <a:xfrm>
            <a:off x="0" y="43920"/>
            <a:ext cx="8380800" cy="346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21" dur="indefinite" restart="never" nodeType="tmRoot">
          <p:childTnLst>
            <p:seq>
              <p:cTn id="222" dur="indefinite" nodeType="mainSeq">
                <p:childTnLst>
                  <p:par>
                    <p:cTn id="223" nodeType="clickEffect" fill="hold">
                      <p:stCondLst>
                        <p:cond delay="indefinite"/>
                      </p:stCondLst>
                      <p:childTnLst>
                        <p:par>
                          <p:cTn id="22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7" nodeType="clickEffect" fill="hold">
                      <p:stCondLst>
                        <p:cond delay="indefinite"/>
                      </p:stCondLst>
                      <p:childTnLst>
                        <p:par>
                          <p:cTn id="22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2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Oval 15"/>
          <p:cNvSpPr/>
          <p:nvPr/>
        </p:nvSpPr>
        <p:spPr>
          <a:xfrm>
            <a:off x="1515960" y="2468880"/>
            <a:ext cx="84348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Line 18"/>
          <p:cNvSpPr/>
          <p:nvPr/>
        </p:nvSpPr>
        <p:spPr>
          <a:xfrm flipV="1">
            <a:off x="2360520" y="2322360"/>
            <a:ext cx="761760" cy="3078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15"/>
          <p:cNvSpPr/>
          <p:nvPr/>
        </p:nvSpPr>
        <p:spPr>
          <a:xfrm>
            <a:off x="485640" y="413280"/>
            <a:ext cx="187380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HLM/LLM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Line 18"/>
          <p:cNvSpPr/>
          <p:nvPr/>
        </p:nvSpPr>
        <p:spPr>
          <a:xfrm>
            <a:off x="2360520" y="625320"/>
            <a:ext cx="1116000" cy="13176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" name="Oval 15"/>
          <p:cNvSpPr/>
          <p:nvPr/>
        </p:nvSpPr>
        <p:spPr>
          <a:xfrm>
            <a:off x="6783480" y="973800"/>
            <a:ext cx="189756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DHLM/DLLM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Line 11"/>
          <p:cNvSpPr/>
          <p:nvPr/>
        </p:nvSpPr>
        <p:spPr>
          <a:xfrm flipH="1">
            <a:off x="5082840" y="1198440"/>
            <a:ext cx="1700280" cy="1364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" name="Oval 15"/>
          <p:cNvSpPr/>
          <p:nvPr/>
        </p:nvSpPr>
        <p:spPr>
          <a:xfrm>
            <a:off x="6783480" y="186120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FOFF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Line 11"/>
          <p:cNvSpPr/>
          <p:nvPr/>
        </p:nvSpPr>
        <p:spPr>
          <a:xfrm flipH="1" flipV="1">
            <a:off x="5082840" y="2027160"/>
            <a:ext cx="1700280" cy="428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2160" bIns="-216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" name="Line 18"/>
          <p:cNvSpPr/>
          <p:nvPr/>
        </p:nvSpPr>
        <p:spPr>
          <a:xfrm>
            <a:off x="2360520" y="625320"/>
            <a:ext cx="1116000" cy="7048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" name="Line 11"/>
          <p:cNvSpPr/>
          <p:nvPr/>
        </p:nvSpPr>
        <p:spPr>
          <a:xfrm flipH="1" flipV="1">
            <a:off x="5016240" y="684000"/>
            <a:ext cx="1766880" cy="4492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PlaceHolder 1"/>
          <p:cNvSpPr>
            <a:spLocks noGrp="1"/>
          </p:cNvSpPr>
          <p:nvPr>
            <p:ph type="sldNum" idx="43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A34D51-61F8-4202-B1D9-C43F176ABB7D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rgbClr val="000000"/>
                </a:solidFill>
                <a:effectLst/>
                <a:uFillTx/>
                <a:latin typeface="Trebuchet MS"/>
              </a:rPr>
              <a:t>Features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36680" y="1460520"/>
            <a:ext cx="8469720" cy="39074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Send motor controller command primitives at initialization, pre-move and post-move;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(INIT, PREM, POST)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 (Not model 3)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Drive Power Monitoring and Motor Synchronized DB Puts via Device Directives.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User initiated updates via the Status Update field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(STUP)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A few fields are motor type specific;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PID parameters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(PCOF/ICOF/DCOF)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for servo motors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(normalized to 0 -&gt; 1)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Velocity base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(VBAS)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for stepper motors.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Done Moving Input Link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(DINP)</a:t>
            </a: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for Soft Channel.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Position feedback from either a EPICS PV link or a motor controller.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44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E226DF-7DF5-4F7C-A5BB-78D6BEE4360A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1" dur="indefinite" restart="never" nodeType="tmRoot">
          <p:childTnLst>
            <p:seq>
              <p:cTn id="232" dur="indefinite" nodeType="mainSeq">
                <p:childTnLst>
                  <p:par>
                    <p:cTn id="233" nodeType="clickEffect" fill="hold">
                      <p:stCondLst>
                        <p:cond delay="indefinite"/>
                      </p:stCondLst>
                      <p:childTnLst>
                        <p:par>
                          <p:cTn id="23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nodeType="clickEffect" fill="hold">
                      <p:stCondLst>
                        <p:cond delay="indefinite"/>
                      </p:stCondLst>
                      <p:childTnLst>
                        <p:par>
                          <p:cTn id="23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1" nodeType="clickEffect" fill="hold">
                      <p:stCondLst>
                        <p:cond delay="indefinite"/>
                      </p:stCondLst>
                      <p:childTnLst>
                        <p:par>
                          <p:cTn id="24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5" nodeType="clickEffect" fill="hold">
                      <p:stCondLst>
                        <p:cond delay="indefinite"/>
                      </p:stCondLst>
                      <p:childTnLst>
                        <p:par>
                          <p:cTn id="24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5" nodeType="clickEffect" fill="hold">
                      <p:stCondLst>
                        <p:cond delay="indefinite"/>
                      </p:stCondLst>
                      <p:childTnLst>
                        <p:par>
                          <p:cTn id="25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Configuration example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4" descr="ma4006b_400"/>
          <p:cNvPicPr/>
          <p:nvPr/>
        </p:nvPicPr>
        <p:blipFill>
          <a:blip r:embed="rId1"/>
          <a:stretch/>
        </p:blipFill>
        <p:spPr>
          <a:xfrm>
            <a:off x="685800" y="990720"/>
            <a:ext cx="5256720" cy="332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7"/>
          <p:cNvSpPr/>
          <p:nvPr/>
        </p:nvSpPr>
        <p:spPr>
          <a:xfrm>
            <a:off x="609480" y="4267080"/>
            <a:ext cx="7999920" cy="18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  <a:buClr>
                <a:srgbClr val="c28500"/>
              </a:buClr>
              <a:buSzPct val="125000"/>
              <a:buFont typeface="Symbol" charset="2"/>
              <a:buChar char=""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Set the engineering units field (EGU); inch, mm, degrees 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  <a:buClr>
                <a:srgbClr val="c28500"/>
              </a:buClr>
              <a:buSzPct val="125000"/>
              <a:buFont typeface="Symbol" charset="2"/>
              <a:buChar char=""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Set the motor resolution (MRES) field which is in units of …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  <a:buClr>
                <a:srgbClr val="404040"/>
              </a:buClr>
              <a:buFont typeface="Symbol" charset="2"/>
              <a:buChar char="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(EGU’s / motor step) for stepper motors.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  <a:buClr>
                <a:srgbClr val="404040"/>
              </a:buClr>
              <a:buFont typeface="Symbol" charset="2"/>
              <a:buChar char="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(EGU’s / encoder tick) for servo motors.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spcAft>
                <a:spcPts val="201"/>
              </a:spcAf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59" dur="indefinite" restart="never" nodeType="tmRoot">
          <p:childTnLst>
            <p:seq>
              <p:cTn id="260" dur="indefinite" nodeType="mainSeq">
                <p:childTnLst>
                  <p:par>
                    <p:cTn id="261" nodeType="clickEffect" fill="hold">
                      <p:stCondLst>
                        <p:cond delay="indefinite"/>
                      </p:stCondLst>
                      <p:childTnLst>
                        <p:par>
                          <p:cTn id="26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5" nodeType="clickEffect" fill="hold">
                      <p:stCondLst>
                        <p:cond delay="indefinite"/>
                      </p:stCondLst>
                      <p:childTnLst>
                        <p:par>
                          <p:cTn id="26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Cont'd  Configuration example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/>
          </p:nvPr>
        </p:nvSpPr>
        <p:spPr>
          <a:xfrm>
            <a:off x="457200" y="1295280"/>
            <a:ext cx="7606080" cy="995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12920" indent="-41292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What should MRES be set to?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12920" indent="-41292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a simple linear stage with a leadscrew directly driven by a stepper motor.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0" y="3200400"/>
            <a:ext cx="9142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44280" bIns="-4428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0" name=""/>
          <p:cNvGraphicFramePr/>
          <p:nvPr/>
        </p:nvGraphicFramePr>
        <p:xfrm>
          <a:off x="601560" y="4876920"/>
          <a:ext cx="5632920" cy="979920"/>
        </p:xfrm>
        <a:graphic>
          <a:graphicData uri="http://schemas.openxmlformats.org/presentationml/2006/ole">
            <p:oleObj progId="Equation.3" r:id="rId1" spid="">
              <p:embed/>
              <p:pic>
                <p:nvPicPr>
                  <p:cNvPr id="241" name="" descr=""/>
                  <p:cNvPicPr/>
                  <p:nvPr/>
                </p:nvPicPr>
                <p:blipFill>
                  <a:blip r:embed="rId2"/>
                  <a:stretch/>
                </p:blipFill>
                <p:spPr>
                  <a:xfrm>
                    <a:off x="601560" y="4876920"/>
                    <a:ext cx="5632920" cy="97992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</p:pic>
            </p:oleObj>
          </a:graphicData>
        </a:graphic>
      </p:graphicFrame>
      <p:pic>
        <p:nvPicPr>
          <p:cNvPr id="242" name="Picture 16" descr="ma4006b_400"/>
          <p:cNvPicPr/>
          <p:nvPr/>
        </p:nvPicPr>
        <p:blipFill>
          <a:blip r:embed="rId3"/>
          <a:stretch/>
        </p:blipFill>
        <p:spPr>
          <a:xfrm>
            <a:off x="1600200" y="2392200"/>
            <a:ext cx="2859480" cy="2145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3" dur="indefinite" restart="never" nodeType="tmRoot">
          <p:childTnLst>
            <p:seq>
              <p:cTn id="274" dur="indefinite" nodeType="mainSeq">
                <p:childTnLst>
                  <p:par>
                    <p:cTn id="275" nodeType="clickEffect" fill="hold">
                      <p:stCondLst>
                        <p:cond delay="indefinite"/>
                      </p:stCondLst>
                      <p:childTnLst>
                        <p:par>
                          <p:cTn id="27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Cont'd  Configuration example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371520" y="1525680"/>
            <a:ext cx="8190360" cy="2495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UREV = EGU’s / 1 leadscrew rev.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SREV = motor steps / 1 motor rev. &gt; 0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MRES = UREV / SREV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MRES and UREV allow negative values so that the record’s coordinate system can be configured to the opposite polarity of the motor controller's.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Never change MRES while the motor is moving.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45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9B4130-C68E-4B20-99D1-9A38E97C5C59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81" dur="indefinite" restart="never" nodeType="tmRoot">
          <p:childTnLst>
            <p:seq>
              <p:cTn id="282" dur="indefinite" nodeType="mainSeq">
                <p:childTnLst>
                  <p:par>
                    <p:cTn id="283" nodeType="clickEffect" fill="hold">
                      <p:stCondLst>
                        <p:cond delay="0"/>
                      </p:stCondLst>
                      <p:childTnLst>
                        <p:par>
                          <p:cTn id="28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7" nodeType="clickEffect" fill="hold">
                      <p:stCondLst>
                        <p:cond delay="indefinite"/>
                      </p:stCondLst>
                      <p:childTnLst>
                        <p:par>
                          <p:cTn id="28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nodeType="clickEffect" fill="hold">
                      <p:stCondLst>
                        <p:cond delay="indefinite"/>
                      </p:stCondLst>
                      <p:childTnLst>
                        <p:par>
                          <p:cTn id="29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5" nodeType="clickEffect" fill="hold">
                      <p:stCondLst>
                        <p:cond delay="indefinite"/>
                      </p:stCondLst>
                      <p:childTnLst>
                        <p:par>
                          <p:cTn id="29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2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128520" y="477720"/>
            <a:ext cx="8760240" cy="456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Cont'd  Configuration example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371520" y="1208160"/>
            <a:ext cx="6640920" cy="1846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Gear box example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Gear ratio definition; “The ratio of the powered gear of a gear train to that of the final or driven gear.”  Hence, a 3:1 gear ratio means that the motor makes 3 revolutions per 1 revolution of the lead screw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8" name="Picture 4" descr="_1xul3ak[1]"/>
          <p:cNvPicPr/>
          <p:nvPr/>
        </p:nvPicPr>
        <p:blipFill>
          <a:blip r:embed="rId1"/>
          <a:stretch/>
        </p:blipFill>
        <p:spPr>
          <a:xfrm>
            <a:off x="7327800" y="1336680"/>
            <a:ext cx="1113480" cy="865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49" name="Group 10"/>
          <p:cNvGrpSpPr/>
          <p:nvPr/>
        </p:nvGrpSpPr>
        <p:grpSpPr>
          <a:xfrm>
            <a:off x="387360" y="3046320"/>
            <a:ext cx="8268120" cy="1153080"/>
            <a:chOff x="387360" y="3046320"/>
            <a:chExt cx="8268120" cy="1153080"/>
          </a:xfrm>
        </p:grpSpPr>
        <p:graphicFrame>
          <p:nvGraphicFramePr>
            <p:cNvPr id="250" name=""/>
            <p:cNvGraphicFramePr/>
            <p:nvPr/>
          </p:nvGraphicFramePr>
          <p:xfrm>
            <a:off x="387360" y="3243240"/>
            <a:ext cx="8268120" cy="956160"/>
          </p:xfrm>
          <a:graphic>
            <a:graphicData uri="http://schemas.openxmlformats.org/presentationml/2006/ole">
              <p:oleObj progId="Equation.3" r:id="rId2" spid="">
                <p:embed/>
                <p:pic>
                  <p:nvPicPr>
                    <p:cNvPr id="251" name="" descr=""/>
                    <p:cNvPicPr/>
                    <p:nvPr/>
                  </p:nvPicPr>
                  <p:blipFill>
                    <a:blip r:embed="rId3"/>
                    <a:stretch/>
                  </p:blipFill>
                  <p:spPr>
                    <a:xfrm>
                      <a:off x="387360" y="3243240"/>
                      <a:ext cx="8268120" cy="956160"/>
                    </a:xfrm>
                    <a:prstGeom prst="rect">
                      <a:avLst/>
                    </a:prstGeom>
                    <a:noFill/>
                    <a:ln w="0">
                      <a:noFill/>
                    </a:ln>
                  </p:spPr>
                </p:pic>
              </p:oleObj>
            </a:graphicData>
          </a:graphic>
        </p:graphicFrame>
        <p:sp>
          <p:nvSpPr>
            <p:cNvPr id="252" name="Oval 8"/>
            <p:cNvSpPr/>
            <p:nvPr/>
          </p:nvSpPr>
          <p:spPr>
            <a:xfrm>
              <a:off x="3870360" y="3046320"/>
              <a:ext cx="3016800" cy="360"/>
            </a:xfrm>
            <a:prstGeom prst="ellipse">
              <a:avLst/>
            </a:prstGeom>
            <a:noFill/>
            <a:ln w="12700">
              <a:solidFill>
                <a:srgbClr val="40404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-43920" bIns="-43920" anchor="ctr">
              <a:spAutoFit/>
            </a:bodyPr>
            <a:p>
              <a:pPr>
                <a:lnSpc>
                  <a:spcPct val="100000"/>
                </a:lnSpc>
                <a:spcBef>
                  <a:spcPts val="901"/>
                </a:spcBef>
              </a:pPr>
              <a:endPara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3" name="Rectangle 11"/>
          <p:cNvSpPr/>
          <p:nvPr/>
        </p:nvSpPr>
        <p:spPr>
          <a:xfrm>
            <a:off x="539640" y="5092560"/>
            <a:ext cx="7403040" cy="66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>
              <a:lnSpc>
                <a:spcPct val="100000"/>
              </a:lnSpc>
              <a:spcBef>
                <a:spcPts val="181"/>
              </a:spcBef>
              <a:spcAft>
                <a:spcPts val="181"/>
              </a:spcAft>
              <a:buClr>
                <a:srgbClr val="c28500"/>
              </a:buClr>
              <a:buSzPct val="125000"/>
              <a:buFont typeface="Symbol" charset="2"/>
              <a:buChar char="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For a servo motor with a motor mounted encoder, change </a:t>
            </a:r>
            <a:r>
              <a:rPr b="1" i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motor steps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to </a:t>
            </a:r>
            <a:r>
              <a:rPr b="1" i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encoder ticks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99" dur="indefinite" restart="never" nodeType="tmRoot">
          <p:childTnLst>
            <p:seq>
              <p:cTn id="300" dur="indefinite" nodeType="mainSeq">
                <p:childTnLst>
                  <p:par>
                    <p:cTn id="301" nodeType="clickEffect" fill="hold">
                      <p:stCondLst>
                        <p:cond delay="indefinite"/>
                      </p:stCondLst>
                      <p:childTnLst>
                        <p:par>
                          <p:cTn id="30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5" nodeType="clickEffect" fill="hold">
                      <p:stCondLst>
                        <p:cond delay="indefinite"/>
                      </p:stCondLst>
                      <p:childTnLst>
                        <p:par>
                          <p:cTn id="30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Feedback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351000" y="1046160"/>
            <a:ext cx="8101440" cy="4840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Two ways to input position feedback to the motor record: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From driver support, via the motor controller.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Times"/>
              <a:buAutoNum type="arabicPeriod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From an EPICS PV, via a stand-alone, feedback device,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 feedback from driver support: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Driver level code sets the </a:t>
            </a:r>
            <a:r>
              <a:rPr b="0" i="1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Encoder is Present 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bit (EA_PRESENT) in the Motor Status field (MSTA) to True at initialization.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Raw Encoder Position field (REP) has the motor controllers’ raw encoder value [ticks].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Configuring feedback from driver support: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Set the Encoder Resolution field (ERES) to convert encoder ticks to EGU’s.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38080" indent="-38088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Use Encoder If Present field (UEIP) determines if the REP is used [Yes/No].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4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216C3A-15A4-4A66-9A38-5603F010857C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09" dur="indefinite" restart="never" nodeType="tmRoot">
          <p:childTnLst>
            <p:seq>
              <p:cTn id="310" dur="indefinite" nodeType="mainSeq">
                <p:childTnLst>
                  <p:par>
                    <p:cTn id="311" nodeType="clickEffect" fill="hold">
                      <p:stCondLst>
                        <p:cond delay="indefinite"/>
                      </p:stCondLst>
                      <p:childTnLst>
                        <p:par>
                          <p:cTn id="31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nodeType="clickEffect" fill="hold">
                      <p:stCondLst>
                        <p:cond delay="indefinite"/>
                      </p:stCondLst>
                      <p:childTnLst>
                        <p:par>
                          <p:cTn id="32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Cont'd  Feedback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698400" y="1460520"/>
            <a:ext cx="8190360" cy="44456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Configuring feedback from an EPICS PV: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Set Readback PV link (RDBL).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Set the Readback Resolution (RRES) to convert the RDBL PV units to EGU’s.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Use Readback If Present field (URIP) determines if the RDBL PV link is used [Yes/No].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Raw Motor Position (RMP) is the current commanded position read from the motor controller.  If motor record closed-loop control is off (UEIP &amp; URIP both set to </a:t>
            </a:r>
            <a:r>
              <a:rPr b="0" i="1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No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), then RVAL = RMP after every move.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Raw Readback Value field (RRBV) can be in units of either steps or ticks.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47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FE92C8-2125-4BF3-82E6-9F871DD705B1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27" dur="indefinite" restart="never" nodeType="tmRoot">
          <p:childTnLst>
            <p:seq>
              <p:cTn id="328" dur="indefinite" nodeType="mainSeq">
                <p:childTnLst>
                  <p:par>
                    <p:cTn id="329" nodeType="clickEffect" fill="hold">
                      <p:stCondLst>
                        <p:cond delay="0"/>
                      </p:stCondLst>
                      <p:childTnLst>
                        <p:par>
                          <p:cTn id="33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3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7" nodeType="clickEffect" fill="hold">
                      <p:stCondLst>
                        <p:cond delay="indefinite"/>
                      </p:stCondLst>
                      <p:childTnLst>
                        <p:par>
                          <p:cTn id="33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nodeType="clickEffect" fill="hold">
                      <p:stCondLst>
                        <p:cond delay="indefinite"/>
                      </p:stCondLst>
                      <p:childTnLst>
                        <p:par>
                          <p:cTn id="34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Oval 15"/>
          <p:cNvSpPr/>
          <p:nvPr/>
        </p:nvSpPr>
        <p:spPr>
          <a:xfrm>
            <a:off x="1297080" y="5463000"/>
            <a:ext cx="106272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RDBL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Line 18"/>
          <p:cNvSpPr/>
          <p:nvPr/>
        </p:nvSpPr>
        <p:spPr>
          <a:xfrm>
            <a:off x="2360520" y="5679720"/>
            <a:ext cx="1203120" cy="3304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Oval 15"/>
          <p:cNvSpPr/>
          <p:nvPr/>
        </p:nvSpPr>
        <p:spPr>
          <a:xfrm>
            <a:off x="1176480" y="4078800"/>
            <a:ext cx="118332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Oval 15"/>
          <p:cNvSpPr/>
          <p:nvPr/>
        </p:nvSpPr>
        <p:spPr>
          <a:xfrm>
            <a:off x="6486480" y="429192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URIP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Line 11"/>
          <p:cNvSpPr/>
          <p:nvPr/>
        </p:nvSpPr>
        <p:spPr>
          <a:xfrm flipH="1">
            <a:off x="4572000" y="4505040"/>
            <a:ext cx="1914480" cy="116676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" name="Line 18"/>
          <p:cNvSpPr/>
          <p:nvPr/>
        </p:nvSpPr>
        <p:spPr>
          <a:xfrm>
            <a:off x="2360520" y="4368600"/>
            <a:ext cx="1484280" cy="5317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sldNum" idx="48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9CD15A-39A0-449E-89B0-C397B86C7C6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33520" y="20052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Feedback data flow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Oval 5"/>
          <p:cNvSpPr/>
          <p:nvPr/>
        </p:nvSpPr>
        <p:spPr>
          <a:xfrm>
            <a:off x="6244200" y="3164040"/>
            <a:ext cx="631800" cy="47700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X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12"/>
          <p:cNvSpPr/>
          <p:nvPr/>
        </p:nvSpPr>
        <p:spPr>
          <a:xfrm>
            <a:off x="8083080" y="3260520"/>
            <a:ext cx="708480" cy="31860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RBV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73"/>
          <p:cNvSpPr/>
          <p:nvPr/>
        </p:nvSpPr>
        <p:spPr>
          <a:xfrm>
            <a:off x="7201800" y="4281480"/>
            <a:ext cx="683280" cy="31860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OFF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ectangle 74"/>
          <p:cNvSpPr/>
          <p:nvPr/>
        </p:nvSpPr>
        <p:spPr>
          <a:xfrm>
            <a:off x="6038640" y="2176560"/>
            <a:ext cx="1070640" cy="3088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DIR: +/- 1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3" name="AutoShape 76"/>
          <p:cNvCxnSpPr>
            <a:stCxn id="272" idx="2"/>
            <a:endCxn id="269" idx="0"/>
          </p:cNvCxnSpPr>
          <p:nvPr/>
        </p:nvCxnSpPr>
        <p:spPr>
          <a:xfrm flipH="1">
            <a:off x="6560280" y="2485440"/>
            <a:ext cx="14040" cy="67896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274" name="AutoShape 77"/>
          <p:cNvCxnSpPr/>
          <p:nvPr/>
        </p:nvCxnSpPr>
        <p:spPr>
          <a:xfrm flipV="1">
            <a:off x="7513200" y="3668040"/>
            <a:ext cx="1080" cy="58068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275" name="AutoShape 100"/>
          <p:cNvCxnSpPr>
            <a:stCxn id="269" idx="6"/>
            <a:endCxn id="276" idx="2"/>
          </p:cNvCxnSpPr>
          <p:nvPr/>
        </p:nvCxnSpPr>
        <p:spPr>
          <a:xfrm>
            <a:off x="6876000" y="3402720"/>
            <a:ext cx="288000" cy="1332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sp>
        <p:nvSpPr>
          <p:cNvPr id="277" name="Rectangle 7"/>
          <p:cNvSpPr/>
          <p:nvPr/>
        </p:nvSpPr>
        <p:spPr>
          <a:xfrm>
            <a:off x="159480" y="3262320"/>
            <a:ext cx="64980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REP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ectangle 8"/>
          <p:cNvSpPr/>
          <p:nvPr/>
        </p:nvSpPr>
        <p:spPr>
          <a:xfrm>
            <a:off x="159480" y="2010600"/>
            <a:ext cx="64980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RMP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Oval 10"/>
          <p:cNvSpPr/>
          <p:nvPr/>
        </p:nvSpPr>
        <p:spPr>
          <a:xfrm>
            <a:off x="4005720" y="3147840"/>
            <a:ext cx="494280" cy="45180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X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11"/>
          <p:cNvSpPr/>
          <p:nvPr/>
        </p:nvSpPr>
        <p:spPr>
          <a:xfrm>
            <a:off x="2797200" y="3258000"/>
            <a:ext cx="82584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RRBV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Oval 40"/>
          <p:cNvSpPr/>
          <p:nvPr/>
        </p:nvSpPr>
        <p:spPr>
          <a:xfrm>
            <a:off x="2190600" y="3336120"/>
            <a:ext cx="141840" cy="1418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82" name="AutoShape 48"/>
          <p:cNvCxnSpPr>
            <a:endCxn id="281" idx="2"/>
          </p:cNvCxnSpPr>
          <p:nvPr/>
        </p:nvCxnSpPr>
        <p:spPr>
          <a:xfrm flipV="1">
            <a:off x="811080" y="3407040"/>
            <a:ext cx="1379880" cy="11160"/>
          </a:xfrm>
          <a:prstGeom prst="straightConnector1">
            <a:avLst/>
          </a:prstGeom>
          <a:ln w="12700">
            <a:solidFill>
              <a:srgbClr val="404040"/>
            </a:solidFill>
            <a:prstDash val="dash"/>
            <a:round/>
            <a:tailEnd len="med" type="triangle" w="med"/>
          </a:ln>
        </p:spPr>
      </p:cxnSp>
      <p:cxnSp>
        <p:nvCxnSpPr>
          <p:cNvPr id="283" name="AutoShape 49"/>
          <p:cNvCxnSpPr>
            <a:stCxn id="280" idx="1"/>
            <a:endCxn id="281" idx="6"/>
          </p:cNvCxnSpPr>
          <p:nvPr/>
        </p:nvCxnSpPr>
        <p:spPr>
          <a:xfrm flipH="1" flipV="1">
            <a:off x="2332440" y="3407040"/>
            <a:ext cx="465120" cy="26280"/>
          </a:xfrm>
          <a:prstGeom prst="straightConnector1">
            <a:avLst/>
          </a:prstGeom>
          <a:ln w="12700">
            <a:solidFill>
              <a:srgbClr val="404040"/>
            </a:solidFill>
            <a:round/>
            <a:headEnd len="med" type="triangle" w="med"/>
          </a:ln>
        </p:spPr>
      </p:cxnSp>
      <p:sp>
        <p:nvSpPr>
          <p:cNvPr id="284" name="Rectangle 51"/>
          <p:cNvSpPr/>
          <p:nvPr/>
        </p:nvSpPr>
        <p:spPr>
          <a:xfrm>
            <a:off x="4321080" y="1457640"/>
            <a:ext cx="89100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ERES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AutoShape 52"/>
          <p:cNvCxnSpPr>
            <a:stCxn id="280" idx="3"/>
            <a:endCxn id="279" idx="2"/>
          </p:cNvCxnSpPr>
          <p:nvPr/>
        </p:nvCxnSpPr>
        <p:spPr>
          <a:xfrm flipV="1">
            <a:off x="3623040" y="3373920"/>
            <a:ext cx="383040" cy="5940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sp>
        <p:nvSpPr>
          <p:cNvPr id="286" name="Rectangle 6"/>
          <p:cNvSpPr/>
          <p:nvPr/>
        </p:nvSpPr>
        <p:spPr>
          <a:xfrm>
            <a:off x="154440" y="5230080"/>
            <a:ext cx="850320" cy="6076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RDBL Link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Oval 57"/>
          <p:cNvSpPr/>
          <p:nvPr/>
        </p:nvSpPr>
        <p:spPr>
          <a:xfrm>
            <a:off x="1413360" y="5230440"/>
            <a:ext cx="486360" cy="45180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X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58"/>
          <p:cNvSpPr/>
          <p:nvPr/>
        </p:nvSpPr>
        <p:spPr>
          <a:xfrm>
            <a:off x="2309400" y="4633560"/>
            <a:ext cx="819720" cy="3394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9" name="AutoShape 59"/>
          <p:cNvCxnSpPr>
            <a:stCxn id="286" idx="3"/>
            <a:endCxn id="287" idx="2"/>
          </p:cNvCxnSpPr>
          <p:nvPr/>
        </p:nvCxnSpPr>
        <p:spPr>
          <a:xfrm flipV="1">
            <a:off x="1004760" y="5456520"/>
            <a:ext cx="408960" cy="7776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290" name="AutoShape 61"/>
          <p:cNvCxnSpPr>
            <a:endCxn id="287" idx="4"/>
          </p:cNvCxnSpPr>
          <p:nvPr/>
        </p:nvCxnSpPr>
        <p:spPr>
          <a:xfrm flipH="1" flipV="1">
            <a:off x="1656720" y="5682240"/>
            <a:ext cx="1080" cy="21816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sp>
        <p:nvSpPr>
          <p:cNvPr id="291" name="Rectangle 72"/>
          <p:cNvSpPr/>
          <p:nvPr/>
        </p:nvSpPr>
        <p:spPr>
          <a:xfrm>
            <a:off x="5133600" y="3246840"/>
            <a:ext cx="77364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DRBV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86"/>
          <p:cNvSpPr/>
          <p:nvPr/>
        </p:nvSpPr>
        <p:spPr>
          <a:xfrm>
            <a:off x="3378240" y="1472040"/>
            <a:ext cx="792720" cy="3502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Oval 90"/>
          <p:cNvSpPr/>
          <p:nvPr/>
        </p:nvSpPr>
        <p:spPr>
          <a:xfrm>
            <a:off x="4176720" y="2698920"/>
            <a:ext cx="172080" cy="1940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94" name="AutoShape 91"/>
          <p:cNvCxnSpPr>
            <a:stCxn id="279" idx="0"/>
            <a:endCxn id="293" idx="4"/>
          </p:cNvCxnSpPr>
          <p:nvPr/>
        </p:nvCxnSpPr>
        <p:spPr>
          <a:xfrm flipV="1">
            <a:off x="4253040" y="2892960"/>
            <a:ext cx="10080" cy="25524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295" name="AutoShape 99"/>
          <p:cNvCxnSpPr>
            <a:stCxn id="296" idx="4"/>
            <a:endCxn id="293" idx="7"/>
          </p:cNvCxnSpPr>
          <p:nvPr/>
        </p:nvCxnSpPr>
        <p:spPr>
          <a:xfrm flipH="1">
            <a:off x="4323600" y="2139480"/>
            <a:ext cx="443520" cy="588240"/>
          </a:xfrm>
          <a:prstGeom prst="straightConnector1">
            <a:avLst/>
          </a:prstGeom>
          <a:ln w="12700">
            <a:solidFill>
              <a:srgbClr val="404040"/>
            </a:solidFill>
            <a:prstDash val="dash"/>
            <a:round/>
            <a:tailEnd len="med" type="triangle" w="med"/>
          </a:ln>
        </p:spPr>
      </p:cxnSp>
      <p:sp>
        <p:nvSpPr>
          <p:cNvPr id="297" name="Oval 134"/>
          <p:cNvSpPr/>
          <p:nvPr/>
        </p:nvSpPr>
        <p:spPr>
          <a:xfrm>
            <a:off x="3691080" y="2017800"/>
            <a:ext cx="167040" cy="1292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6" name="Oval 136"/>
          <p:cNvSpPr/>
          <p:nvPr/>
        </p:nvSpPr>
        <p:spPr>
          <a:xfrm>
            <a:off x="4695840" y="1997640"/>
            <a:ext cx="141840" cy="1418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00000"/>
              </a:lnSpc>
              <a:spcBef>
                <a:spcPts val="901"/>
              </a:spcBef>
            </a:pPr>
            <a:endParaRPr b="1" lang="en-US" sz="1800" strike="noStrike" u="non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98" name="AutoShape 140"/>
          <p:cNvCxnSpPr>
            <a:stCxn id="278" idx="3"/>
            <a:endCxn id="281" idx="0"/>
          </p:cNvCxnSpPr>
          <p:nvPr/>
        </p:nvCxnSpPr>
        <p:spPr>
          <a:xfrm>
            <a:off x="809280" y="2185560"/>
            <a:ext cx="1452600" cy="1150920"/>
          </a:xfrm>
          <a:prstGeom prst="straightConnector1">
            <a:avLst/>
          </a:prstGeom>
          <a:ln w="12700">
            <a:solidFill>
              <a:srgbClr val="404040"/>
            </a:solidFill>
            <a:prstDash val="dash"/>
            <a:round/>
            <a:tailEnd len="med" type="triangle" w="med"/>
          </a:ln>
        </p:spPr>
      </p:cxnSp>
      <p:cxnSp>
        <p:nvCxnSpPr>
          <p:cNvPr id="299" name="AutoShape 141"/>
          <p:cNvCxnSpPr>
            <a:stCxn id="292" idx="2"/>
            <a:endCxn id="297" idx="0"/>
          </p:cNvCxnSpPr>
          <p:nvPr/>
        </p:nvCxnSpPr>
        <p:spPr>
          <a:xfrm>
            <a:off x="3774600" y="1822320"/>
            <a:ext cx="360" cy="19584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300" name="AutoShape 142"/>
          <p:cNvCxnSpPr>
            <a:stCxn id="284" idx="2"/>
            <a:endCxn id="296" idx="0"/>
          </p:cNvCxnSpPr>
          <p:nvPr/>
        </p:nvCxnSpPr>
        <p:spPr>
          <a:xfrm>
            <a:off x="4766400" y="1807920"/>
            <a:ext cx="720" cy="19008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301" name="AutoShape 143"/>
          <p:cNvCxnSpPr>
            <a:stCxn id="279" idx="6"/>
            <a:endCxn id="291" idx="1"/>
          </p:cNvCxnSpPr>
          <p:nvPr/>
        </p:nvCxnSpPr>
        <p:spPr>
          <a:xfrm>
            <a:off x="4500000" y="3373920"/>
            <a:ext cx="633960" cy="4824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302" name="AutoShape 146"/>
          <p:cNvCxnSpPr>
            <a:stCxn id="291" idx="3"/>
            <a:endCxn id="269" idx="2"/>
          </p:cNvCxnSpPr>
          <p:nvPr/>
        </p:nvCxnSpPr>
        <p:spPr>
          <a:xfrm flipV="1">
            <a:off x="5907240" y="3402720"/>
            <a:ext cx="337320" cy="1944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sp>
        <p:nvSpPr>
          <p:cNvPr id="303" name="PlaceHolder 2"/>
          <p:cNvSpPr>
            <a:spLocks noGrp="1"/>
          </p:cNvSpPr>
          <p:nvPr>
            <p:ph type="sldNum" idx="49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334784-66B3-46ED-A016-3B6C33490390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304" name="AutoShape 48"/>
          <p:cNvCxnSpPr>
            <a:stCxn id="305" idx="0"/>
            <a:endCxn id="281" idx="3"/>
          </p:cNvCxnSpPr>
          <p:nvPr/>
        </p:nvCxnSpPr>
        <p:spPr>
          <a:xfrm flipV="1">
            <a:off x="1656720" y="3457440"/>
            <a:ext cx="554760" cy="1097640"/>
          </a:xfrm>
          <a:prstGeom prst="straightConnector1">
            <a:avLst/>
          </a:prstGeom>
          <a:ln w="12700">
            <a:solidFill>
              <a:srgbClr val="404040"/>
            </a:solidFill>
            <a:prstDash val="dash"/>
            <a:round/>
            <a:tailEnd len="med" type="triangle" w="med"/>
          </a:ln>
        </p:spPr>
      </p:cxnSp>
      <p:sp>
        <p:nvSpPr>
          <p:cNvPr id="306" name="Rectangle 23"/>
          <p:cNvSpPr/>
          <p:nvPr/>
        </p:nvSpPr>
        <p:spPr>
          <a:xfrm>
            <a:off x="1039320" y="3151080"/>
            <a:ext cx="84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UEIP = Yes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ectangle 24"/>
          <p:cNvSpPr/>
          <p:nvPr/>
        </p:nvSpPr>
        <p:spPr>
          <a:xfrm rot="2329200">
            <a:off x="1008000" y="2430720"/>
            <a:ext cx="12531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UEIP = URIP = No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ctangle 99"/>
          <p:cNvSpPr/>
          <p:nvPr/>
        </p:nvSpPr>
        <p:spPr>
          <a:xfrm rot="17669400">
            <a:off x="1346760" y="3833280"/>
            <a:ext cx="85572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URIP = Yes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AutoShape 99"/>
          <p:cNvCxnSpPr>
            <a:stCxn id="297" idx="4"/>
            <a:endCxn id="293" idx="1"/>
          </p:cNvCxnSpPr>
          <p:nvPr/>
        </p:nvCxnSpPr>
        <p:spPr>
          <a:xfrm>
            <a:off x="3774600" y="2147040"/>
            <a:ext cx="427680" cy="580680"/>
          </a:xfrm>
          <a:prstGeom prst="straightConnector1">
            <a:avLst/>
          </a:prstGeom>
          <a:ln w="12700">
            <a:solidFill>
              <a:srgbClr val="404040"/>
            </a:solidFill>
            <a:prstDash val="dash"/>
            <a:round/>
            <a:tailEnd len="med" type="triangle" w="med"/>
          </a:ln>
        </p:spPr>
      </p:cxnSp>
      <p:sp>
        <p:nvSpPr>
          <p:cNvPr id="310" name="Rectangle 94"/>
          <p:cNvSpPr/>
          <p:nvPr/>
        </p:nvSpPr>
        <p:spPr>
          <a:xfrm>
            <a:off x="4545720" y="2338920"/>
            <a:ext cx="84744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UEIP = Yes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95"/>
          <p:cNvSpPr/>
          <p:nvPr/>
        </p:nvSpPr>
        <p:spPr>
          <a:xfrm>
            <a:off x="2326680" y="2268000"/>
            <a:ext cx="1526760" cy="46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UEIP = URIP = No, OR,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URIP = Yes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Oval 5"/>
          <p:cNvSpPr/>
          <p:nvPr/>
        </p:nvSpPr>
        <p:spPr>
          <a:xfrm>
            <a:off x="7163640" y="3155400"/>
            <a:ext cx="631800" cy="52056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901"/>
              </a:spcBef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+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AutoShape 100"/>
          <p:cNvCxnSpPr>
            <a:stCxn id="276" idx="6"/>
          </p:cNvCxnSpPr>
          <p:nvPr/>
        </p:nvCxnSpPr>
        <p:spPr>
          <a:xfrm flipV="1">
            <a:off x="7795440" y="3412440"/>
            <a:ext cx="304200" cy="360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sp>
        <p:nvSpPr>
          <p:cNvPr id="313" name="Rectangle 58"/>
          <p:cNvSpPr/>
          <p:nvPr/>
        </p:nvSpPr>
        <p:spPr>
          <a:xfrm>
            <a:off x="1225800" y="5907240"/>
            <a:ext cx="819720" cy="339480"/>
          </a:xfrm>
          <a:prstGeom prst="rect">
            <a:avLst/>
          </a:prstGeom>
          <a:noFill/>
          <a:ln w="12700">
            <a:solidFill>
              <a:srgbClr val="40404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RRES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Oval 57"/>
          <p:cNvSpPr/>
          <p:nvPr/>
        </p:nvSpPr>
        <p:spPr>
          <a:xfrm>
            <a:off x="1413360" y="4554720"/>
            <a:ext cx="486360" cy="47700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99"/>
              </a:spcBef>
            </a:pPr>
            <a:r>
              <a:rPr b="1" lang="en-US" sz="16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÷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AutoShape 61"/>
          <p:cNvCxnSpPr>
            <a:endCxn id="305" idx="4"/>
          </p:cNvCxnSpPr>
          <p:nvPr/>
        </p:nvCxnSpPr>
        <p:spPr>
          <a:xfrm flipH="1" flipV="1">
            <a:off x="1656720" y="5031720"/>
            <a:ext cx="1080" cy="23256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  <p:cxnSp>
        <p:nvCxnSpPr>
          <p:cNvPr id="315" name="AutoShape 59"/>
          <p:cNvCxnSpPr>
            <a:stCxn id="288" idx="1"/>
            <a:endCxn id="305" idx="6"/>
          </p:cNvCxnSpPr>
          <p:nvPr/>
        </p:nvCxnSpPr>
        <p:spPr>
          <a:xfrm flipH="1" flipV="1">
            <a:off x="1899720" y="4793400"/>
            <a:ext cx="410040" cy="10080"/>
          </a:xfrm>
          <a:prstGeom prst="straightConnector1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Picture 5" descr=""/>
          <p:cNvPicPr/>
          <p:nvPr/>
        </p:nvPicPr>
        <p:blipFill>
          <a:blip r:embed="rId1"/>
          <a:stretch/>
        </p:blipFill>
        <p:spPr>
          <a:xfrm>
            <a:off x="2416320" y="0"/>
            <a:ext cx="418356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7" name="Oval 6"/>
          <p:cNvSpPr/>
          <p:nvPr/>
        </p:nvSpPr>
        <p:spPr>
          <a:xfrm>
            <a:off x="7078680" y="5174280"/>
            <a:ext cx="11433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Oval 7"/>
          <p:cNvSpPr/>
          <p:nvPr/>
        </p:nvSpPr>
        <p:spPr>
          <a:xfrm>
            <a:off x="7081920" y="4521960"/>
            <a:ext cx="90864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RMP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Oval 8"/>
          <p:cNvSpPr/>
          <p:nvPr/>
        </p:nvSpPr>
        <p:spPr>
          <a:xfrm>
            <a:off x="7224840" y="325080"/>
            <a:ext cx="997560" cy="407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RRBV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Line 11"/>
          <p:cNvSpPr/>
          <p:nvPr/>
        </p:nvSpPr>
        <p:spPr>
          <a:xfrm flipH="1">
            <a:off x="5770440" y="555480"/>
            <a:ext cx="1407960" cy="34596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Line 12"/>
          <p:cNvSpPr/>
          <p:nvPr/>
        </p:nvSpPr>
        <p:spPr>
          <a:xfrm flipH="1">
            <a:off x="5786280" y="4779720"/>
            <a:ext cx="1300320" cy="36036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Line 13"/>
          <p:cNvSpPr/>
          <p:nvPr/>
        </p:nvSpPr>
        <p:spPr>
          <a:xfrm flipH="1" flipV="1">
            <a:off x="5751360" y="5329080"/>
            <a:ext cx="1335240" cy="730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3" name="Oval 15"/>
          <p:cNvSpPr/>
          <p:nvPr/>
        </p:nvSpPr>
        <p:spPr>
          <a:xfrm>
            <a:off x="1020600" y="368856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Oval 16"/>
          <p:cNvSpPr/>
          <p:nvPr/>
        </p:nvSpPr>
        <p:spPr>
          <a:xfrm>
            <a:off x="693720" y="5709600"/>
            <a:ext cx="1024560" cy="407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RDBL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Line 17"/>
          <p:cNvSpPr/>
          <p:nvPr/>
        </p:nvSpPr>
        <p:spPr>
          <a:xfrm>
            <a:off x="1714320" y="5956200"/>
            <a:ext cx="1498680" cy="2030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6" name="Line 18"/>
          <p:cNvSpPr/>
          <p:nvPr/>
        </p:nvSpPr>
        <p:spPr>
          <a:xfrm>
            <a:off x="2006280" y="3924000"/>
            <a:ext cx="1676520" cy="9781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7" name="Oval 19"/>
          <p:cNvSpPr/>
          <p:nvPr/>
        </p:nvSpPr>
        <p:spPr>
          <a:xfrm>
            <a:off x="7161120" y="3580560"/>
            <a:ext cx="97668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STUP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Line 20"/>
          <p:cNvSpPr/>
          <p:nvPr/>
        </p:nvSpPr>
        <p:spPr>
          <a:xfrm flipH="1">
            <a:off x="5499000" y="3789360"/>
            <a:ext cx="1658880" cy="4698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Oval 21"/>
          <p:cNvSpPr/>
          <p:nvPr/>
        </p:nvSpPr>
        <p:spPr>
          <a:xfrm>
            <a:off x="7288200" y="1099800"/>
            <a:ext cx="997560" cy="407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RVAL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Line 22"/>
          <p:cNvSpPr/>
          <p:nvPr/>
        </p:nvSpPr>
        <p:spPr>
          <a:xfrm flipH="1" flipV="1">
            <a:off x="6476760" y="1206360"/>
            <a:ext cx="762120" cy="1141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1" name="Oval 23"/>
          <p:cNvSpPr/>
          <p:nvPr/>
        </p:nvSpPr>
        <p:spPr>
          <a:xfrm>
            <a:off x="874800" y="4458960"/>
            <a:ext cx="927720" cy="407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UEIP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Oval 24"/>
          <p:cNvSpPr/>
          <p:nvPr/>
        </p:nvSpPr>
        <p:spPr>
          <a:xfrm>
            <a:off x="849240" y="5081040"/>
            <a:ext cx="927720" cy="407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URIP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Line 26"/>
          <p:cNvSpPr/>
          <p:nvPr/>
        </p:nvSpPr>
        <p:spPr>
          <a:xfrm>
            <a:off x="1803240" y="4686120"/>
            <a:ext cx="2209680" cy="8380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Line 27"/>
          <p:cNvSpPr/>
          <p:nvPr/>
        </p:nvSpPr>
        <p:spPr>
          <a:xfrm>
            <a:off x="1739880" y="5308560"/>
            <a:ext cx="2234880" cy="4316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sldNum" idx="50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981877-7551-4C60-BA18-93A32C06C869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Retries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/>
          </p:nvPr>
        </p:nvSpPr>
        <p:spPr>
          <a:xfrm>
            <a:off x="306360" y="1150920"/>
            <a:ext cx="8403120" cy="4647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What it isn’t.  Retries are not continuous, dynamic loop closure.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What it is.  Retries try to eliminate dial position error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(DIFF)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by making, consecutive, </a:t>
            </a:r>
            <a:r>
              <a:rPr b="0" lang="en-US" sz="1800" strike="noStrike" u="sng">
                <a:solidFill>
                  <a:schemeClr val="dk1"/>
                </a:solidFill>
                <a:effectLst/>
                <a:uFillTx/>
                <a:latin typeface="Calibri"/>
              </a:rPr>
              <a:t>relative moves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based on the DIFF field.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DIFF = DVAL – DRBV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If [RTRY !=0, AND, ((EA_PRESENT = True, AND, UEIP == Yes), OR, URIP == Yes)] is True, then all motor record moves are relative moves.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Configuring retries: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Usually set UEIP == No for a servo motor.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Set Retry Deadband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(RDBD)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; retry if (DIFF &gt; RDBD).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Set Max Retry Count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(RTRY)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- maximum number of retries.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Current Retry Count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(RCNT)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– cleared at the start of every move.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51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5F519A-E006-469E-A686-CCEDF23ACAAD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45" dur="indefinite" restart="never" nodeType="tmRoot">
          <p:childTnLst>
            <p:seq>
              <p:cTn id="346" dur="indefinite" nodeType="mainSeq">
                <p:childTnLst>
                  <p:par>
                    <p:cTn id="347" nodeType="clickEffect" fill="hold">
                      <p:stCondLst>
                        <p:cond delay="indefinite"/>
                      </p:stCondLst>
                      <p:childTnLst>
                        <p:par>
                          <p:cTn id="34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nodeType="clickEffect" fill="hold">
                      <p:stCondLst>
                        <p:cond delay="indefinite"/>
                      </p:stCondLst>
                      <p:childTnLst>
                        <p:par>
                          <p:cTn id="35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5" nodeType="clickEffect" fill="hold">
                      <p:stCondLst>
                        <p:cond delay="indefinite"/>
                      </p:stCondLst>
                      <p:childTnLst>
                        <p:par>
                          <p:cTn id="35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5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9" nodeType="clickEffect" fill="hold">
                      <p:stCondLst>
                        <p:cond delay="indefinite"/>
                      </p:stCondLst>
                      <p:childTnLst>
                        <p:par>
                          <p:cTn id="360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6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3" nodeType="clickEffect" fill="hold">
                      <p:stCondLst>
                        <p:cond delay="indefinite"/>
                      </p:stCondLst>
                      <p:childTnLst>
                        <p:par>
                          <p:cTn id="364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nodeType="clickEffect" fill="hold">
                      <p:stCondLst>
                        <p:cond delay="indefinite"/>
                      </p:stCondLst>
                      <p:childTnLst>
                        <p:par>
                          <p:cTn id="36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1" nodeType="clickEffect" fill="hold">
                      <p:stCondLst>
                        <p:cond delay="indefinite"/>
                      </p:stCondLst>
                      <p:childTnLst>
                        <p:par>
                          <p:cTn id="372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5" nodeType="clickEffect" fill="hold">
                      <p:stCondLst>
                        <p:cond delay="indefinite"/>
                      </p:stCondLst>
                      <p:childTnLst>
                        <p:par>
                          <p:cTn id="37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3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Picture 5" descr=""/>
          <p:cNvPicPr/>
          <p:nvPr/>
        </p:nvPicPr>
        <p:blipFill>
          <a:blip r:embed="rId1"/>
          <a:stretch/>
        </p:blipFill>
        <p:spPr>
          <a:xfrm>
            <a:off x="2465280" y="-11160"/>
            <a:ext cx="418356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Oval 6"/>
          <p:cNvSpPr/>
          <p:nvPr/>
        </p:nvSpPr>
        <p:spPr>
          <a:xfrm>
            <a:off x="7078680" y="5174280"/>
            <a:ext cx="11433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DIFF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Line 13"/>
          <p:cNvSpPr/>
          <p:nvPr/>
        </p:nvSpPr>
        <p:spPr>
          <a:xfrm flipH="1">
            <a:off x="6198840" y="5402160"/>
            <a:ext cx="811440" cy="17136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Oval 15"/>
          <p:cNvSpPr/>
          <p:nvPr/>
        </p:nvSpPr>
        <p:spPr>
          <a:xfrm>
            <a:off x="1020600" y="368856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RDBD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Oval 16"/>
          <p:cNvSpPr/>
          <p:nvPr/>
        </p:nvSpPr>
        <p:spPr>
          <a:xfrm>
            <a:off x="693720" y="5734800"/>
            <a:ext cx="10245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RTRY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Line 17"/>
          <p:cNvSpPr/>
          <p:nvPr/>
        </p:nvSpPr>
        <p:spPr>
          <a:xfrm flipV="1">
            <a:off x="1714320" y="5402160"/>
            <a:ext cx="2298600" cy="5540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5" name="Line 18"/>
          <p:cNvSpPr/>
          <p:nvPr/>
        </p:nvSpPr>
        <p:spPr>
          <a:xfrm>
            <a:off x="2006280" y="3924000"/>
            <a:ext cx="1687680" cy="11480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6" name="Oval 23"/>
          <p:cNvSpPr/>
          <p:nvPr/>
        </p:nvSpPr>
        <p:spPr>
          <a:xfrm>
            <a:off x="758880" y="4713840"/>
            <a:ext cx="1043640" cy="4345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RCNT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Line 26"/>
          <p:cNvSpPr/>
          <p:nvPr/>
        </p:nvSpPr>
        <p:spPr>
          <a:xfrm>
            <a:off x="1768320" y="4917960"/>
            <a:ext cx="1303200" cy="39348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PlaceHolder 1"/>
          <p:cNvSpPr>
            <a:spLocks noGrp="1"/>
          </p:cNvSpPr>
          <p:nvPr>
            <p:ph type="sldNum" idx="52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1D1CD8-25FF-454F-9F06-08E62C9540F4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Backlash Correction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468360" y="1731960"/>
            <a:ext cx="8190360" cy="3896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- lost motion due to mechanical imperfections.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configuration: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distance </a:t>
            </a: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(BDST)</a:t>
            </a: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determines the magnitude and direction of the backlash move.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 backlash has its’ own velocity (BVEL) and acceleration (BACC) parameters.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correction algorithm: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Preferred direction - the sign of BDST.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Slew parameters - slew velocity (VELO) and acceleration (ACCL).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Backlash parameters - BVEL and BACC.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1" name="Picture 4" descr="twogears"/>
          <p:cNvPicPr/>
          <p:nvPr/>
        </p:nvPicPr>
        <p:blipFill>
          <a:blip r:embed="rId1"/>
          <a:stretch/>
        </p:blipFill>
        <p:spPr>
          <a:xfrm>
            <a:off x="5032440" y="209520"/>
            <a:ext cx="1332360" cy="14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2" name="PlaceHolder 3"/>
          <p:cNvSpPr>
            <a:spLocks noGrp="1"/>
          </p:cNvSpPr>
          <p:nvPr>
            <p:ph type="sldNum" idx="53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A2154A9-F247-4F3D-A618-1658950A2378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379" dur="indefinite" restart="never" nodeType="tmRoot">
          <p:childTnLst>
            <p:seq>
              <p:cTn id="380" dur="indefinite" nodeType="mainSeq">
                <p:childTnLst>
                  <p:par>
                    <p:cTn id="381" fill="hold">
                      <p:stCondLst>
                        <p:cond delay="indefinite"/>
                      </p:stCondLst>
                      <p:childTnLst>
                        <p:par>
                          <p:cTn id="382" fill="hold">
                            <p:stCondLst>
                              <p:cond delay="0"/>
                            </p:stCondLst>
                            <p:childTnLst>
                              <p:par>
                                <p:cTn id="3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5" fill="hold">
                      <p:stCondLst>
                        <p:cond delay="indefinite"/>
                      </p:stCondLst>
                      <p:childTnLst>
                        <p:par>
                          <p:cTn id="386" fill="hold">
                            <p:stCondLst>
                              <p:cond delay="0"/>
                            </p:stCondLst>
                            <p:childTnLst>
                              <p:par>
                                <p:cTn id="38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3" fill="hold">
                      <p:stCondLst>
                        <p:cond delay="indefinite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Backlash Correction Logic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474840" y="1181160"/>
            <a:ext cx="8190360" cy="4810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Given a move to a position called Target: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IF backlash is disabled (0 = |BDST| &lt; |MRES|), OR, (move is in the preferred direction, AND, backlash parameters == slew parameters).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indent="-28584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THEN, skip backlash, move to Target using slew parameters.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ELSE IF the incremental distance &gt; |BDST|, OR, the move is Not in the preferred direction.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indent="-28584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THEN, move to position (Target - BDST) using slew parameters, then move to Target using backlash parameters.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ELSE IF the incremental distance &lt;= |BDST|, AND, the move is in the preferred direction.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indent="-28584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THEN, backlash is assumed to have been taken out; move to Target using backlash parameters.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ENDIF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54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5E3493-BE93-459D-BBB2-656F8D3109E1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Picture 1" descr=""/>
          <p:cNvPicPr/>
          <p:nvPr/>
        </p:nvPicPr>
        <p:blipFill>
          <a:blip r:embed="rId1"/>
          <a:stretch/>
        </p:blipFill>
        <p:spPr>
          <a:xfrm>
            <a:off x="2867040" y="0"/>
            <a:ext cx="3408840" cy="685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7" name="Oval 15"/>
          <p:cNvSpPr/>
          <p:nvPr/>
        </p:nvSpPr>
        <p:spPr>
          <a:xfrm>
            <a:off x="1204920" y="297720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BACC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Oval 15"/>
          <p:cNvSpPr/>
          <p:nvPr/>
        </p:nvSpPr>
        <p:spPr>
          <a:xfrm>
            <a:off x="1235160" y="362988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BDST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Line 18"/>
          <p:cNvSpPr/>
          <p:nvPr/>
        </p:nvSpPr>
        <p:spPr>
          <a:xfrm flipV="1">
            <a:off x="2260440" y="3527280"/>
            <a:ext cx="2171520" cy="30312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Line 18"/>
          <p:cNvSpPr/>
          <p:nvPr/>
        </p:nvSpPr>
        <p:spPr>
          <a:xfrm>
            <a:off x="2260440" y="2571480"/>
            <a:ext cx="2171520" cy="35244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1" name="Line 18"/>
          <p:cNvSpPr/>
          <p:nvPr/>
        </p:nvSpPr>
        <p:spPr>
          <a:xfrm>
            <a:off x="2211120" y="3171600"/>
            <a:ext cx="2220840" cy="147600"/>
          </a:xfrm>
          <a:prstGeom prst="line">
            <a:avLst/>
          </a:prstGeom>
          <a:ln w="12700">
            <a:solidFill>
              <a:srgbClr val="40404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Oval 15"/>
          <p:cNvSpPr/>
          <p:nvPr/>
        </p:nvSpPr>
        <p:spPr>
          <a:xfrm>
            <a:off x="1235160" y="2320200"/>
            <a:ext cx="1010160" cy="43272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r>
              <a:rPr b="1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Oval 16"/>
          <p:cNvSpPr/>
          <p:nvPr/>
        </p:nvSpPr>
        <p:spPr>
          <a:xfrm>
            <a:off x="1249200" y="2316240"/>
            <a:ext cx="1010160" cy="430560"/>
          </a:xfrm>
          <a:prstGeom prst="ellipse">
            <a:avLst/>
          </a:prstGeom>
          <a:noFill/>
          <a:ln w="12700">
            <a:solidFill>
              <a:srgbClr val="40404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  <a:spcBef>
                <a:spcPts val="700"/>
              </a:spcBef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1"/>
          <p:cNvSpPr>
            <a:spLocks noGrp="1"/>
          </p:cNvSpPr>
          <p:nvPr>
            <p:ph type="sldNum" idx="55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BE916D-FD5E-49BA-9C02-DC25DA2E628E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Motor module distribution and build customization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690480" y="1168560"/>
            <a:ext cx="8190360" cy="50216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Motor module web page.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6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https://github.com/epics-modules/motor/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8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Motor module build customization.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6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To build examples; uncomment  three lines in &lt;motor&gt;/Makefile that begin with “#!”.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6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&lt;motor&gt;/configure/RELEASE: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If only EPICS_BASE is defined, only OMS and Soft Channel model #1 device/drivers are built.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>
              <a:lnSpc>
                <a:spcPct val="100000"/>
              </a:lnSpc>
              <a:spcBef>
                <a:spcPts val="281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4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ASYN is required for everything else.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16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&lt;motor&gt;/motorApp/Makefile: Define which device/driver modules to build.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56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0A1EC5-4D02-440F-97F5-E0CA07A7CBAA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03" dur="indefinite" restart="never" nodeType="tmRoot">
          <p:childTnLst>
            <p:seq>
              <p:cTn id="404" dur="indefinite" nodeType="mainSeq">
                <p:childTnLst>
                  <p:par>
                    <p:cTn id="405" nodeType="clickEffect" fill="hold">
                      <p:stCondLst>
                        <p:cond delay="0"/>
                      </p:stCondLst>
                      <p:childTnLst>
                        <p:par>
                          <p:cTn id="406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40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trike="noStrike" u="none">
                <a:solidFill>
                  <a:schemeClr val="dk2"/>
                </a:solidFill>
                <a:effectLst/>
                <a:uFillTx/>
                <a:latin typeface="Trebuchet MS"/>
              </a:rPr>
              <a:t>Motor module with modern controllers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690480" y="1168560"/>
            <a:ext cx="8190360" cy="50216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Modern controllers:  All low level configuration is typically done outside the motorRecord. Use the vendor-specific development tool/IDE.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Wingdings" charset="2"/>
              <a:buChar char="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Especially: Homing, Velocities, Acceleration, Soft Limits</a:t>
            </a:r>
            <a:br>
              <a:rPr sz="1800"/>
            </a:b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ESS fork of motor module: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https://github.com/EuropeanSpallationSource/motor/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36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rgbClr val="404040"/>
                </a:solidFill>
                <a:effectLst/>
                <a:uFillTx/>
                <a:latin typeface="Calibri"/>
              </a:rPr>
              <a:t>Example to install everything: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2"/>
              </a:rPr>
              <a:t>https://github.com/EuropeanSpallationSource/MCAG_setupMotionDemo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320"/>
              </a:spcBef>
              <a:buClr>
                <a:srgbClr val="1f497d"/>
              </a:buClr>
              <a:buFont typeface="Symbol" charset="2"/>
              <a:buChar char=""/>
            </a:pPr>
            <a:r>
              <a:rPr b="0" lang="en-US" sz="1600" strike="noStrike" u="sng">
                <a:solidFill>
                  <a:schemeClr val="dk1"/>
                </a:solidFill>
                <a:effectLst/>
                <a:uFillTx/>
                <a:latin typeface="Calibri"/>
                <a:hlinkClick r:id="rId3"/>
              </a:rPr>
              <a:t>https://github.com/EuropeanSpallationSource/EuropeanSpallationSource/m-epics-ethercatmc/blob/master/README.md/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57"/>
          </p:nvPr>
        </p:nvSpPr>
        <p:spPr>
          <a:xfrm>
            <a:off x="8610480" y="6489720"/>
            <a:ext cx="383040" cy="3639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3288A2-C321-40FD-A2BD-BA709CB515E6}" type="slidenum">
              <a:rPr b="0" lang="en-US" sz="9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&lt;number&gt;</a:t>
            </a:fld>
            <a:endParaRPr b="0" lang="en-US" sz="9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25" dur="indefinite" restart="never" nodeType="tmRoot">
          <p:childTnLst>
            <p:seq>
              <p:cTn id="426" dur="indefinite" nodeType="mainSeq">
                <p:childTnLst>
                  <p:par>
                    <p:cTn id="427" nodeType="clickEffect" fill="hold">
                      <p:stCondLst>
                        <p:cond delay="0"/>
                      </p:stCondLst>
                      <p:childTnLst>
                        <p:par>
                          <p:cTn id="428" nodeType="withEffect" fill="hold">
                            <p:stCondLst>
                              <p:cond delay="0"/>
                            </p:stCondLst>
                            <p:childTnLst>
                              <p:par>
                                <p:cTn id="42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3" fill="hold">
                      <p:stCondLst>
                        <p:cond delay="indefinite"/>
                      </p:stCondLst>
                      <p:childTnLst>
                        <p:par>
                          <p:cTn id="434" fill="hold">
                            <p:stCondLst>
                              <p:cond delay="0"/>
                            </p:stCondLst>
                            <p:childTnLst>
                              <p:par>
                                <p:cTn id="43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9" fill="hold">
                      <p:stCondLst>
                        <p:cond delay="indefinite"/>
                      </p:stCondLst>
                      <p:childTnLst>
                        <p:par>
                          <p:cTn id="440" fill="hold">
                            <p:stCondLst>
                              <p:cond delay="0"/>
                            </p:stCondLst>
                            <p:childTnLst>
                              <p:par>
                                <p:cTn id="4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10_10_APS_Presentation tmplt">
  <a:themeElements>
    <a:clrScheme name="">
      <a:dk1>
        <a:srgbClr val="404040"/>
      </a:dk1>
      <a:lt1>
        <a:srgbClr val="ffffff"/>
      </a:lt1>
      <a:dk2>
        <a:srgbClr val="1f497d"/>
      </a:dk2>
      <a:lt2>
        <a:srgbClr val="d2d2d2"/>
      </a:lt2>
      <a:accent1>
        <a:srgbClr val="a6c4de"/>
      </a:accent1>
      <a:accent2>
        <a:srgbClr val="9d7d9e"/>
      </a:accent2>
      <a:accent3>
        <a:srgbClr val="ffffff"/>
      </a:accent3>
      <a:accent4>
        <a:srgbClr val="353535"/>
      </a:accent4>
      <a:accent5>
        <a:srgbClr val="d0deec"/>
      </a:accent5>
      <a:accent6>
        <a:srgbClr val="8e718f"/>
      </a:accent6>
      <a:hlink>
        <a:srgbClr val="7ab800"/>
      </a:hlink>
      <a:folHlink>
        <a:srgbClr val="bf5c28"/>
      </a:folHlink>
    </a:clrScheme>
    <a:fontScheme name="Office Theme">
      <a:majorFont>
        <a:latin typeface="Trebuchet MS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10_10_APS_Presentation tmplt</Template>
  <TotalTime>11833</TotalTime>
  <Application>LibreOffice/25.2.2.2$MacOSX_X86_64 LibreOffice_project/7370d4be9e3cf6031a51beef54ff3bda878e3fac</Application>
  <AppVersion>15.0000</AppVersion>
  <Words>2652</Words>
  <Paragraphs>383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2015-02-12T21:39:21Z</dcterms:created>
  <dc:creator/>
  <dc:description/>
  <dc:language>en-US</dc:language>
  <cp:lastModifiedBy/>
  <dcterms:modified xsi:type="dcterms:W3CDTF">2025-04-10T07:38:41Z</dcterms:modified>
  <cp:revision>65</cp:revision>
  <dc:subject/>
  <dc:title>EPICS Training 2027Using Motors 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29</vt:i4>
  </property>
  <property fmtid="{D5CDD505-2E9C-101B-9397-08002B2CF9AE}" pid="3" name="PresentationFormat">
    <vt:lpwstr>On-screen Show (4:3)</vt:lpwstr>
  </property>
  <property fmtid="{D5CDD505-2E9C-101B-9397-08002B2CF9AE}" pid="4" name="Slides">
    <vt:i4>38</vt:i4>
  </property>
</Properties>
</file>