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4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embeddings/oleObject1.bin" ContentType="application/vnd.openxmlformats-officedocument.oleObject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_rels/presentation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2.jpeg" ContentType="image/jpeg"/>
  <Override PartName="/ppt/media/image3.jpeg" ContentType="image/jpeg"/>
  <Override PartName="/ppt/media/image6.png" ContentType="image/png"/>
  <Override PartName="/ppt/media/image5.png" ContentType="image/png"/>
  <Override PartName="/ppt/media/image7.png" ContentType="image/png"/>
  <Override PartName="/ppt/media/image9.wmf" ContentType="image/x-wmf"/>
  <Override PartName="/ppt/media/image8.jpeg" ContentType="image/jpeg"/>
  <Override PartName="/ppt/media/image11.wmf" ContentType="image/x-wmf"/>
  <Override PartName="/ppt/media/image4.jpeg" ContentType="image/jpeg"/>
  <Override PartName="/ppt/media/image10.gif" ContentType="image/gif"/>
  <Override PartName="/ppt/media/image1.png" ContentType="image/png"/>
  <Override PartName="/ppt/media/image12.gif" ContentType="image/gif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29.xml.rels" ContentType="application/vnd.openxmlformats-package.relationships+xml"/>
  <Override PartName="/ppt/slides/_rels/slide34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33.xml.rels" ContentType="application/vnd.openxmlformats-package.relationships+xml"/>
  <Override PartName="/ppt/slides/_rels/slide8.xml.rels" ContentType="application/vnd.openxmlformats-package.relationships+xml"/>
  <Override PartName="/ppt/slides/_rels/slide32.xml.rels" ContentType="application/vnd.openxmlformats-package.relationships+xml"/>
  <Override PartName="/ppt/slides/_rels/slide7.xml.rels" ContentType="application/vnd.openxmlformats-package.relationships+xml"/>
  <Override PartName="/ppt/slides/_rels/slide3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30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25.xml.rels" ContentType="application/vnd.openxmlformats-package.relationships+xml"/>
  <Override PartName="/ppt/slides/_rels/slide24.xml.rels" ContentType="application/vnd.openxmlformats-package.relationships+xml"/>
  <Override PartName="/ppt/slides/_rels/slide23.xml.rels" ContentType="application/vnd.openxmlformats-package.relationships+xml"/>
  <Override PartName="/ppt/slides/_rels/slide22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8.xml" ContentType="application/vnd.openxmlformats-officedocument.presentationml.slide+xml"/>
  <Override PartName="/ppt/slides/slide34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Slides/_rels/notesSlide36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dt" idx="2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ftr" idx="2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6"/>
          <p:cNvSpPr>
            <a:spLocks noGrp="1"/>
          </p:cNvSpPr>
          <p:nvPr>
            <p:ph type="sldNum" idx="2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210E98B-C78E-4009-BACE-68C9B15894A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ftr" idx="58"/>
          </p:nvPr>
        </p:nvSpPr>
        <p:spPr>
          <a:xfrm>
            <a:off x="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Go to "View | Header and Footer" to add your organization, sponsor, meeting name here; then, click "Apply to All"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7AC1B8-0938-4599-9D15-8841B8DB2D5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6BD5EE-E769-46FE-8F3C-5309A3CF5C3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F9F5AE-855D-4545-BE09-C5133A3C31B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ftr" idx="62"/>
          </p:nvPr>
        </p:nvSpPr>
        <p:spPr>
          <a:xfrm>
            <a:off x="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 to "View | Header and Footer" to add your organization, sponsor, meeting name here; then, click "Apply to All"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PlaceHolder 4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729084-FCBF-41A7-8493-F43B2362D81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ftr" idx="64"/>
          </p:nvPr>
        </p:nvSpPr>
        <p:spPr>
          <a:xfrm>
            <a:off x="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 to "View | Header and Footer" to add your organization, sponsor, meeting name here; then, click "Apply to All"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PlaceHolder 4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295BE8-31E0-498B-AAF9-5C58573FE6A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ftr" idx="66"/>
          </p:nvPr>
        </p:nvSpPr>
        <p:spPr>
          <a:xfrm>
            <a:off x="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 to "View | Header and Footer" to add your organization, sponsor, meeting name here; then, click "Apply to All"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PlaceHolder 4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FFE3B9-8F3F-490A-B4C0-9AE1F5E6D67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E582C2-23E8-4B97-A08D-088D9DB77A0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867060-D802-4F3F-8A1C-2777A3FE3D6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32428B-82CE-46A4-9F7A-6AAB90E4460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45DAD0-5C40-4424-A89C-EE5F513059C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A64A5D-A41A-453B-BAC3-7E61D970508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733190-D723-4BCF-913A-2FF15EE235C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48A7D9-32BB-44F8-9E6F-FA39FF2860D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00C2BD-3588-40FB-B518-E8B7324F3AA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8CC412-FC27-43A1-AEDA-EF6D310A05A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EA2232-F619-443C-B01A-D7F67197BCD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68FBC1-2FE0-400D-969E-AA3BACC3DFA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1889E1-328B-4C85-BE20-B28C361B528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018CE1-F723-43BB-A279-9D5A64E0AE2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4D25FE-67BE-4BFB-85D3-466BCD4B9CF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B8051A7-2B4C-4B3E-A40C-0BA16F3F347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5CE5BC-377C-4ED1-BB02-A2D6B28DE8A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B67E0B-F652-4464-B1EC-BA29A611B3A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2249E8-D01B-4BAF-9D17-9C14E5B3D7E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730AB4-6997-4AD4-A4F4-930E5F2E474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E8984E-A162-4191-B011-E606E9A7EE2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4418F2-65ED-4C18-BA99-9B79126C074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99FC4E-D0B6-4F86-8461-E290895F2F4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sldImg"/>
          </p:nvPr>
        </p:nvSpPr>
        <p:spPr>
          <a:xfrm>
            <a:off x="1144440" y="689040"/>
            <a:ext cx="4566600" cy="342684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3"/>
          <p:cNvSpPr>
            <a:spLocks noGrp="1"/>
          </p:cNvSpPr>
          <p:nvPr>
            <p:ph type="body"/>
          </p:nvPr>
        </p:nvSpPr>
        <p:spPr>
          <a:xfrm>
            <a:off x="917640" y="4345560"/>
            <a:ext cx="5021640" cy="41090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D31715-D4C5-4272-836A-E6BDD3CD566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 type="sldImg"/>
          </p:nvPr>
        </p:nvSpPr>
        <p:spPr>
          <a:xfrm>
            <a:off x="1144440" y="689040"/>
            <a:ext cx="4566600" cy="342684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3"/>
          <p:cNvSpPr>
            <a:spLocks noGrp="1"/>
          </p:cNvSpPr>
          <p:nvPr>
            <p:ph type="body"/>
          </p:nvPr>
        </p:nvSpPr>
        <p:spPr>
          <a:xfrm>
            <a:off x="917640" y="4345560"/>
            <a:ext cx="5021640" cy="41090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9" descr=""/>
          <p:cNvPicPr/>
          <p:nvPr/>
        </p:nvPicPr>
        <p:blipFill>
          <a:blip r:embed="rId2"/>
          <a:stretch/>
        </p:blipFill>
        <p:spPr>
          <a:xfrm>
            <a:off x="0" y="6288120"/>
            <a:ext cx="9143280" cy="56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Picture 7" descr="slide header_646.jpg"/>
          <p:cNvPicPr/>
          <p:nvPr/>
        </p:nvPicPr>
        <p:blipFill>
          <a:blip r:embed="rId3"/>
          <a:stretch/>
        </p:blipFill>
        <p:spPr>
          <a:xfrm>
            <a:off x="0" y="0"/>
            <a:ext cx="9143280" cy="1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6"/>
          <p:cNvSpPr/>
          <p:nvPr/>
        </p:nvSpPr>
        <p:spPr>
          <a:xfrm>
            <a:off x="685800" y="6324480"/>
            <a:ext cx="685728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70c0"/>
                </a:solidFill>
                <a:effectLst/>
                <a:uFillTx/>
                <a:latin typeface="Calibri"/>
              </a:rPr>
              <a:t>The Advanced Photon Source is an Office of Science User Facility operated for the U.S. Department of Energy Office of Science by Argonne National Laboratory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dt" idx="1"/>
          </p:nvPr>
        </p:nvSpPr>
        <p:spPr>
          <a:xfrm>
            <a:off x="7010280" y="6572160"/>
            <a:ext cx="1370880" cy="208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7"/>
          <p:cNvSpPr>
            <a:spLocks noGrp="1"/>
          </p:cNvSpPr>
          <p:nvPr>
            <p:ph type="sldNum" idx="2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FC22A8-1B97-4649-A08D-899020156291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"/>
          <p:cNvPicPr/>
          <p:nvPr/>
        </p:nvPicPr>
        <p:blipFill>
          <a:blip r:embed="rId2"/>
          <a:stretch/>
        </p:blipFill>
        <p:spPr>
          <a:xfrm>
            <a:off x="0" y="6288120"/>
            <a:ext cx="9143280" cy="56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7" descr="slide header_646.jpg"/>
          <p:cNvPicPr/>
          <p:nvPr/>
        </p:nvPicPr>
        <p:blipFill>
          <a:blip r:embed="rId3"/>
          <a:stretch/>
        </p:blipFill>
        <p:spPr>
          <a:xfrm>
            <a:off x="0" y="0"/>
            <a:ext cx="9143280" cy="1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Box 2"/>
          <p:cNvSpPr/>
          <p:nvPr/>
        </p:nvSpPr>
        <p:spPr>
          <a:xfrm>
            <a:off x="685800" y="6324480"/>
            <a:ext cx="685728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70c0"/>
                </a:solidFill>
                <a:effectLst/>
                <a:uFillTx/>
                <a:latin typeface="Calibri"/>
              </a:rPr>
              <a:t>The Advanced Photon Source is an Office of Science User Facility operated for the U.S. Department of Energy Office of Science by Argonne National Laboratory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dt" idx="3"/>
          </p:nvPr>
        </p:nvSpPr>
        <p:spPr>
          <a:xfrm>
            <a:off x="7010280" y="6572160"/>
            <a:ext cx="1370880" cy="208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4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CAE04E-A793-4CDE-9DD3-FD9AF6AD42BB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9" descr=""/>
          <p:cNvPicPr/>
          <p:nvPr/>
        </p:nvPicPr>
        <p:blipFill>
          <a:blip r:embed="rId2"/>
          <a:stretch/>
        </p:blipFill>
        <p:spPr>
          <a:xfrm>
            <a:off x="0" y="6288120"/>
            <a:ext cx="9143280" cy="56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7" descr="slide header_646.jpg"/>
          <p:cNvPicPr/>
          <p:nvPr/>
        </p:nvPicPr>
        <p:blipFill>
          <a:blip r:embed="rId3"/>
          <a:stretch/>
        </p:blipFill>
        <p:spPr>
          <a:xfrm>
            <a:off x="0" y="0"/>
            <a:ext cx="9143280" cy="1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Box 1"/>
          <p:cNvSpPr/>
          <p:nvPr/>
        </p:nvSpPr>
        <p:spPr>
          <a:xfrm>
            <a:off x="685800" y="6324480"/>
            <a:ext cx="685728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Using Motors, Ron L. Suilter; Torsten Bögershausen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dt" idx="5"/>
          </p:nvPr>
        </p:nvSpPr>
        <p:spPr>
          <a:xfrm>
            <a:off x="7010280" y="6572160"/>
            <a:ext cx="1370880" cy="208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6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09B4CE-AF9D-49D3-AC09-9E43D621DD77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9" descr=""/>
          <p:cNvPicPr/>
          <p:nvPr/>
        </p:nvPicPr>
        <p:blipFill>
          <a:blip r:embed="rId2"/>
          <a:stretch/>
        </p:blipFill>
        <p:spPr>
          <a:xfrm>
            <a:off x="0" y="6288120"/>
            <a:ext cx="9143280" cy="56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7" descr="slide header_646.jpg"/>
          <p:cNvPicPr/>
          <p:nvPr/>
        </p:nvPicPr>
        <p:blipFill>
          <a:blip r:embed="rId3"/>
          <a:stretch/>
        </p:blipFill>
        <p:spPr>
          <a:xfrm>
            <a:off x="0" y="0"/>
            <a:ext cx="9143280" cy="1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Box 4"/>
          <p:cNvSpPr/>
          <p:nvPr/>
        </p:nvSpPr>
        <p:spPr>
          <a:xfrm>
            <a:off x="685800" y="6324480"/>
            <a:ext cx="685728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70c0"/>
                </a:solidFill>
                <a:effectLst/>
                <a:uFillTx/>
                <a:latin typeface="Calibri"/>
              </a:rPr>
              <a:t>The Advanced Photon Source is an Office of Science User Facility operated for the U.S. Department of Energy Office of Science by Argonne National Laboratory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1f497d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7"/>
          </p:nvPr>
        </p:nvSpPr>
        <p:spPr>
          <a:xfrm>
            <a:off x="7010280" y="6572160"/>
            <a:ext cx="1370880" cy="208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8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B18481-AB32-4270-AC85-6144792CD924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9" descr=""/>
          <p:cNvPicPr/>
          <p:nvPr/>
        </p:nvPicPr>
        <p:blipFill>
          <a:blip r:embed="rId2"/>
          <a:stretch/>
        </p:blipFill>
        <p:spPr>
          <a:xfrm>
            <a:off x="0" y="6288120"/>
            <a:ext cx="9143280" cy="56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Picture 7" descr="slide header_646.jpg"/>
          <p:cNvPicPr/>
          <p:nvPr/>
        </p:nvPicPr>
        <p:blipFill>
          <a:blip r:embed="rId3"/>
          <a:stretch/>
        </p:blipFill>
        <p:spPr>
          <a:xfrm>
            <a:off x="0" y="0"/>
            <a:ext cx="9143280" cy="1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Box 4"/>
          <p:cNvSpPr/>
          <p:nvPr/>
        </p:nvSpPr>
        <p:spPr>
          <a:xfrm>
            <a:off x="685800" y="6324480"/>
            <a:ext cx="685728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70c0"/>
                </a:solidFill>
                <a:effectLst/>
                <a:uFillTx/>
                <a:latin typeface="Calibri"/>
              </a:rPr>
              <a:t>The Advanced Photon Source is an Office of Science User Facility operated for the U.S. Department of Energy Office of Science by Argonne National Laboratory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9"/>
          </p:nvPr>
        </p:nvSpPr>
        <p:spPr>
          <a:xfrm>
            <a:off x="7010280" y="6572160"/>
            <a:ext cx="1370880" cy="208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0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DB88E3-A957-44ED-BC14-517ACE58737A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9" descr=""/>
          <p:cNvPicPr/>
          <p:nvPr/>
        </p:nvPicPr>
        <p:blipFill>
          <a:blip r:embed="rId2"/>
          <a:stretch/>
        </p:blipFill>
        <p:spPr>
          <a:xfrm>
            <a:off x="0" y="6288120"/>
            <a:ext cx="9143280" cy="56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Picture 7" descr="slide header_646.jpg"/>
          <p:cNvPicPr/>
          <p:nvPr/>
        </p:nvPicPr>
        <p:blipFill>
          <a:blip r:embed="rId3"/>
          <a:stretch/>
        </p:blipFill>
        <p:spPr>
          <a:xfrm>
            <a:off x="0" y="0"/>
            <a:ext cx="9143280" cy="15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Picture 7" descr="title header_Blue_646.jpg"/>
          <p:cNvPicPr/>
          <p:nvPr/>
        </p:nvPicPr>
        <p:blipFill>
          <a:blip r:embed="rId4"/>
          <a:stretch/>
        </p:blipFill>
        <p:spPr>
          <a:xfrm>
            <a:off x="0" y="0"/>
            <a:ext cx="9143280" cy="110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Picture 8" descr="title footer_Blue_646.jpg"/>
          <p:cNvPicPr/>
          <p:nvPr/>
        </p:nvPicPr>
        <p:blipFill>
          <a:blip r:embed="rId5"/>
          <a:stretch/>
        </p:blipFill>
        <p:spPr>
          <a:xfrm>
            <a:off x="0" y="6794640"/>
            <a:ext cx="9143280" cy="6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Picture 10" descr=""/>
          <p:cNvPicPr/>
          <p:nvPr/>
        </p:nvPicPr>
        <p:blipFill>
          <a:blip r:embed="rId6"/>
          <a:stretch/>
        </p:blipFill>
        <p:spPr>
          <a:xfrm>
            <a:off x="7315200" y="6400800"/>
            <a:ext cx="1600920" cy="26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Box 6"/>
          <p:cNvSpPr/>
          <p:nvPr/>
        </p:nvSpPr>
        <p:spPr>
          <a:xfrm>
            <a:off x="152280" y="6566040"/>
            <a:ext cx="685728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70c0"/>
                </a:solidFill>
                <a:effectLst/>
                <a:uFillTx/>
                <a:latin typeface="Calibri"/>
              </a:rPr>
              <a:t>The Advanced Photon Source is an Office of Science User Facility operated for the U.S. Department of Energy Office of Science by Argonne National Laboratory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85680" y="1671480"/>
            <a:ext cx="7695360" cy="1069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9" descr=""/>
          <p:cNvPicPr/>
          <p:nvPr/>
        </p:nvPicPr>
        <p:blipFill>
          <a:blip r:embed="rId2"/>
          <a:stretch/>
        </p:blipFill>
        <p:spPr>
          <a:xfrm>
            <a:off x="0" y="6288120"/>
            <a:ext cx="9143280" cy="56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Picture 7" descr="slide header_646.jpg"/>
          <p:cNvPicPr/>
          <p:nvPr/>
        </p:nvPicPr>
        <p:blipFill>
          <a:blip r:embed="rId3"/>
          <a:stretch/>
        </p:blipFill>
        <p:spPr>
          <a:xfrm>
            <a:off x="0" y="0"/>
            <a:ext cx="9143280" cy="1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Box 3"/>
          <p:cNvSpPr/>
          <p:nvPr/>
        </p:nvSpPr>
        <p:spPr>
          <a:xfrm>
            <a:off x="685800" y="6324480"/>
            <a:ext cx="685728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70c0"/>
                </a:solidFill>
                <a:effectLst/>
                <a:uFillTx/>
                <a:latin typeface="Calibri"/>
              </a:rPr>
              <a:t>The Advanced Photon Source is an Office of Science User Facility operated for the U.S. Department of Energy Office of Science by Argonne National Laboratory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»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11"/>
          </p:nvPr>
        </p:nvSpPr>
        <p:spPr>
          <a:xfrm>
            <a:off x="7010280" y="6572160"/>
            <a:ext cx="1370880" cy="208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12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C248E4-A3ED-4196-BFAB-1D350ACEC7D2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9" descr=""/>
          <p:cNvPicPr/>
          <p:nvPr/>
        </p:nvPicPr>
        <p:blipFill>
          <a:blip r:embed="rId2"/>
          <a:stretch/>
        </p:blipFill>
        <p:spPr>
          <a:xfrm>
            <a:off x="0" y="6288120"/>
            <a:ext cx="9143280" cy="56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Picture 7" descr="slide header_646.jpg"/>
          <p:cNvPicPr/>
          <p:nvPr/>
        </p:nvPicPr>
        <p:blipFill>
          <a:blip r:embed="rId3"/>
          <a:stretch/>
        </p:blipFill>
        <p:spPr>
          <a:xfrm>
            <a:off x="0" y="0"/>
            <a:ext cx="9143280" cy="1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Box 3"/>
          <p:cNvSpPr/>
          <p:nvPr/>
        </p:nvSpPr>
        <p:spPr>
          <a:xfrm>
            <a:off x="685800" y="6324480"/>
            <a:ext cx="685728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70c0"/>
                </a:solidFill>
                <a:effectLst/>
                <a:uFillTx/>
                <a:latin typeface="Calibri"/>
              </a:rPr>
              <a:t>The Advanced Photon Source is an Office of Science User Facility operated for the U.S. Department of Energy Office of Science by Argonne National Laboratory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»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13"/>
          </p:nvPr>
        </p:nvSpPr>
        <p:spPr>
          <a:xfrm>
            <a:off x="7010280" y="6572160"/>
            <a:ext cx="1370880" cy="208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14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376E23-9292-47C1-A7CE-EC5F2DC0CFEC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Title, Text,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9" descr=""/>
          <p:cNvPicPr/>
          <p:nvPr/>
        </p:nvPicPr>
        <p:blipFill>
          <a:blip r:embed="rId2"/>
          <a:stretch/>
        </p:blipFill>
        <p:spPr>
          <a:xfrm>
            <a:off x="0" y="6288120"/>
            <a:ext cx="9143280" cy="56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7" descr="slide header_646.jpg"/>
          <p:cNvPicPr/>
          <p:nvPr/>
        </p:nvPicPr>
        <p:blipFill>
          <a:blip r:embed="rId3"/>
          <a:stretch/>
        </p:blipFill>
        <p:spPr>
          <a:xfrm>
            <a:off x="0" y="0"/>
            <a:ext cx="9143280" cy="1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8520" y="477720"/>
            <a:ext cx="876060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98400" y="1460520"/>
            <a:ext cx="4018680" cy="1886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»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870440" y="1460520"/>
            <a:ext cx="4018680" cy="1886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»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15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8170B1-4BEF-457A-8AD7-07AD02D72ACA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TextBox 5"/>
          <p:cNvSpPr/>
          <p:nvPr/>
        </p:nvSpPr>
        <p:spPr>
          <a:xfrm>
            <a:off x="685800" y="6324480"/>
            <a:ext cx="685728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Using Motors, Ron L. Suilter; Torsten Bögershausen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, Text,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9" descr=""/>
          <p:cNvPicPr/>
          <p:nvPr/>
        </p:nvPicPr>
        <p:blipFill>
          <a:blip r:embed="rId2"/>
          <a:stretch/>
        </p:blipFill>
        <p:spPr>
          <a:xfrm>
            <a:off x="0" y="6288120"/>
            <a:ext cx="9143280" cy="56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Picture 7" descr="slide header_646.jpg"/>
          <p:cNvPicPr/>
          <p:nvPr/>
        </p:nvPicPr>
        <p:blipFill>
          <a:blip r:embed="rId3"/>
          <a:stretch/>
        </p:blipFill>
        <p:spPr>
          <a:xfrm>
            <a:off x="0" y="0"/>
            <a:ext cx="9143280" cy="1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28520" y="477720"/>
            <a:ext cx="876060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98400" y="1460520"/>
            <a:ext cx="4018680" cy="1886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»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870440" y="1460520"/>
            <a:ext cx="4018680" cy="866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»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870440" y="2479680"/>
            <a:ext cx="4018680" cy="867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»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sldNum" idx="16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E95E0E-0B9F-4957-8F1F-7597A039C365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685800" y="6324480"/>
            <a:ext cx="685728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Using Motors, Ron L. Suilter; Torsten Bögershausen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9" descr=""/>
          <p:cNvPicPr/>
          <p:nvPr/>
        </p:nvPicPr>
        <p:blipFill>
          <a:blip r:embed="rId2"/>
          <a:stretch/>
        </p:blipFill>
        <p:spPr>
          <a:xfrm>
            <a:off x="0" y="6288120"/>
            <a:ext cx="9143280" cy="56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7" descr="slide header_646.jpg"/>
          <p:cNvPicPr/>
          <p:nvPr/>
        </p:nvPicPr>
        <p:blipFill>
          <a:blip r:embed="rId3"/>
          <a:stretch/>
        </p:blipFill>
        <p:spPr>
          <a:xfrm>
            <a:off x="0" y="0"/>
            <a:ext cx="9143280" cy="1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3"/>
          <p:cNvSpPr/>
          <p:nvPr/>
        </p:nvSpPr>
        <p:spPr>
          <a:xfrm>
            <a:off x="685800" y="6324480"/>
            <a:ext cx="685728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Using Motors, Ron L. Suilter; Torsten Bögershausen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»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17"/>
          </p:nvPr>
        </p:nvSpPr>
        <p:spPr>
          <a:xfrm>
            <a:off x="7010280" y="6572160"/>
            <a:ext cx="1370880" cy="208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18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B71928-8D93-4A7C-9623-CD450937E6B2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9" descr=""/>
          <p:cNvPicPr/>
          <p:nvPr/>
        </p:nvPicPr>
        <p:blipFill>
          <a:blip r:embed="rId2"/>
          <a:stretch/>
        </p:blipFill>
        <p:spPr>
          <a:xfrm>
            <a:off x="0" y="6288120"/>
            <a:ext cx="9143280" cy="56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7" descr="slide header_646.jpg"/>
          <p:cNvPicPr/>
          <p:nvPr/>
        </p:nvPicPr>
        <p:blipFill>
          <a:blip r:embed="rId3"/>
          <a:stretch/>
        </p:blipFill>
        <p:spPr>
          <a:xfrm>
            <a:off x="0" y="0"/>
            <a:ext cx="9143280" cy="1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3"/>
          <p:cNvSpPr/>
          <p:nvPr/>
        </p:nvSpPr>
        <p:spPr>
          <a:xfrm>
            <a:off x="685800" y="6324480"/>
            <a:ext cx="685728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70c0"/>
                </a:solidFill>
                <a:effectLst/>
                <a:uFillTx/>
                <a:latin typeface="Calibri"/>
              </a:rPr>
              <a:t>The Advanced Photon Source is an Office of Science User Facility operated for the U.S. Department of Energy Office of Science by Argonne National Laboratory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dt" idx="19"/>
          </p:nvPr>
        </p:nvSpPr>
        <p:spPr>
          <a:xfrm>
            <a:off x="7010280" y="6572160"/>
            <a:ext cx="1370880" cy="208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sldNum" idx="20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B976B3-7D5B-4D57-82D5-AD6F642C7169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9" descr=""/>
          <p:cNvPicPr/>
          <p:nvPr/>
        </p:nvPicPr>
        <p:blipFill>
          <a:blip r:embed="rId2"/>
          <a:stretch/>
        </p:blipFill>
        <p:spPr>
          <a:xfrm>
            <a:off x="0" y="6288120"/>
            <a:ext cx="9143280" cy="56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7" descr="slide header_646.jpg"/>
          <p:cNvPicPr/>
          <p:nvPr/>
        </p:nvPicPr>
        <p:blipFill>
          <a:blip r:embed="rId3"/>
          <a:stretch/>
        </p:blipFill>
        <p:spPr>
          <a:xfrm>
            <a:off x="0" y="0"/>
            <a:ext cx="9143280" cy="1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21"/>
          </p:nvPr>
        </p:nvSpPr>
        <p:spPr>
          <a:xfrm>
            <a:off x="7010280" y="6572160"/>
            <a:ext cx="1370880" cy="208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sldNum" idx="22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3A9BAD-3BB9-4D78-A5CB-72B3A9555480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TextBox 8"/>
          <p:cNvSpPr/>
          <p:nvPr/>
        </p:nvSpPr>
        <p:spPr>
          <a:xfrm>
            <a:off x="685800" y="6324480"/>
            <a:ext cx="685728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Using Motors, Ron L. Suilter; Torsten Bögershausen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subversion.xray.aps.anl.gov/synApps/motor/trunk/documentation/motorDeviceDriver.html" TargetMode="Externa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://w/motorRecord.html" TargetMode="External"/><Relationship Id="rId2" Type="http://schemas.openxmlformats.org/officeDocument/2006/relationships/hyperlink" Target="http://www.aps.anl.gov/epics/modules/manufacturer.php" TargetMode="External"/><Relationship Id="rId3" Type="http://schemas.openxmlformats.org/officeDocument/2006/relationships/hyperlink" Target="http://www.aps.anl.gov/epics/tech-talk/index.php" TargetMode="External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github.com/epics-modules/twincat-ads" TargetMode="External"/><Relationship Id="rId2" Type="http://schemas.openxmlformats.org/officeDocument/2006/relationships/hyperlink" Target="https://github.com/EuropeanSpallationSource/m-epics-ethercatmc/releases/tag/v3.0.2" TargetMode="External"/><Relationship Id="rId3" Type="http://schemas.openxmlformats.org/officeDocument/2006/relationships/hyperlink" Target="https://github.com/pcdshub/lcls-twincat-motion" TargetMode="External"/><Relationship Id="rId4" Type="http://schemas.openxmlformats.org/officeDocument/2006/relationships/hyperlink" Target="http://www.aps.anl.gov/epics/modules/manufacturer.php" TargetMode="External"/><Relationship Id="rId5" Type="http://schemas.openxmlformats.org/officeDocument/2006/relationships/hyperlink" Target="http://www.aps.anl.gov/epics/modules/manufacturer.php" TargetMode="External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github.com/epics-modules/motor/blob/master/docs/trajectoryScan.html" TargetMode="Externa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.wmf"/><Relationship Id="rId3" Type="http://schemas.openxmlformats.org/officeDocument/2006/relationships/image" Target="../media/image8.jpe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oleObject" Target="../embeddings/oleObject1.bin"/><Relationship Id="rId3" Type="http://schemas.openxmlformats.org/officeDocument/2006/relationships/image" Target="../media/image11.wmf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2.gif"/><Relationship Id="rId2" Type="http://schemas.openxmlformats.org/officeDocument/2006/relationships/slideLayout" Target="../slideLayouts/slideLayout1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hyperlink" Target="http://www.aps.anl.gov/bcda/synApps/motor/index.html" TargetMode="Externa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hyperlink" Target="https://github.com/EuropeanSpallationSource/motor/" TargetMode="External"/><Relationship Id="rId2" Type="http://schemas.openxmlformats.org/officeDocument/2006/relationships/hyperlink" Target="https://github.com/EuropeanSpallationSource/MCAG_setupMotionDemo%20/" TargetMode="External"/><Relationship Id="rId3" Type="http://schemas.openxmlformats.org/officeDocument/2006/relationships/hyperlink" Target="https://github.com/EuropeanSpallationSource/EuropeanSpallationSource/m-epics-ethercatmc/blob/master/README.md/" TargetMode="External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3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985680" y="1671480"/>
            <a:ext cx="7695360" cy="1069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EPICS Training 2025</a:t>
            </a:r>
            <a:br>
              <a:rPr sz="3000"/>
            </a:br>
            <a:r>
              <a:rPr b="1" i="1" lang="en-US" sz="24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Using Motors</a:t>
            </a:r>
            <a:br>
              <a:rPr sz="2400"/>
            </a:b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ubTitle"/>
          </p:nvPr>
        </p:nvSpPr>
        <p:spPr>
          <a:xfrm>
            <a:off x="985680" y="3125880"/>
            <a:ext cx="6400080" cy="175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Torsten Bögershausen,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Originally Ronald L. Sluiter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2015-02-16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Overview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8060760" cy="4736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Acknowledgements.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What’s in the EPICS motor module and what’s it for?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Supported motor controller Manufacturers and models.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Motor record features.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Configuration example.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Feedback.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Retries.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Backlash Correction.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Distribution.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Note: All of following refers to R6-9 of the motor distribution.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26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589785-A772-4957-8309-A3DD6C8E7714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Acknowledgments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550800" y="1460520"/>
            <a:ext cx="8092440" cy="303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Jim Kowalkowski - original author, until…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Tim Mooney and Joe Sullivan, until…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Ron Sluiter, since 1998/9, until retirement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Kevin Peterson is the current “module owner”.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Many contributors to the motor module.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Mark, BCDA, Diamond Light Source, vendors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Fork of motor module used at ESS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27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0741E1-E922-4897-A773-DF64BD17D9CD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28520" y="477720"/>
            <a:ext cx="876060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Terminology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98400" y="1460520"/>
            <a:ext cx="7790760" cy="33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MM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Wingdings"/>
              </a:rPr>
              <a:t>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Motor Module distribution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MR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Wingdings"/>
              </a:rPr>
              <a:t>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Motor Record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EGU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Wingdings"/>
              </a:rPr>
              <a:t>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Engineering Units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RPS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Wingdings"/>
              </a:rPr>
              <a:t>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Revolutions Per Second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Stepper motors </a:t>
            </a: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step</a:t>
            </a: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and 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ncoders </a:t>
            </a: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tick.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Readback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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Feedback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target position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- a user requested, static, absolute position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(VAL)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commanded position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the motor controller’s current, dynamic, absolute reference position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(RMP)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28520" y="473040"/>
            <a:ext cx="8760600" cy="461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What’s in the Motor module?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36680" y="1427040"/>
            <a:ext cx="8313120" cy="650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User displays - medm, CSS/Boy, caQtDm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(mostly commissioning, some application specific; e.g., fly scanning) (Location: &lt;motor&gt;/motorApp/op/*)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Databases –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(templates referenced by *.substitution files)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(Location: &lt;motor&gt;/motorApp/Db)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 MR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(*.dbd and 4,000+ *.cc)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 common device/driver code shared by all device/drivers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(Location: &lt;motor&gt;/motorApp/MotorSrc)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2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 different motor module device/driver architectures.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2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Model 1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(unique device, used asyn for comm.),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Model 2 &amp; 3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(common device, using asyn)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20000"/>
              </a:lnSpc>
              <a:spcBef>
                <a:spcPts val="2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200" strike="noStrike" u="sng">
                <a:solidFill>
                  <a:srgbClr val="7ab800"/>
                </a:solidFill>
                <a:effectLst/>
                <a:uFillTx/>
                <a:latin typeface="Calibri"/>
                <a:hlinkClick r:id="rId1"/>
              </a:rPr>
              <a:t>https://github.com/epics-modules/motor/blob/master/docs/motorDeviceDriver.html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Vendor specific directories, device/driver code and *.dbd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(README docs) (Location: &lt;motor&gt;/modules/&lt;vendor-name&gt;Src)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Save/restore *.req files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(Location: &lt;motor&gt;/motorApp/Db)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28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475724-65BC-49C8-8725-C4B597B3EFBB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nodeType="clickEffect" fill="hold">
                      <p:stCondLst>
                        <p:cond delay="indefinite"/>
                      </p:stCondLst>
                      <p:childTnLst>
                        <p:par>
                          <p:cTn id="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nodeType="clickEffect" fill="hold">
                      <p:stCondLst>
                        <p:cond delay="indefinite"/>
                      </p:stCondLst>
                      <p:childTnLst>
                        <p:par>
                          <p:cTn id="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nodeType="clickEffect" fill="hold">
                      <p:stCondLst>
                        <p:cond delay="indefinite"/>
                      </p:stCondLst>
                      <p:childTnLst>
                        <p:par>
                          <p:cTn id="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28520" y="473040"/>
            <a:ext cx="8760600" cy="461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What’s in the Motor module?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698400" y="1460520"/>
            <a:ext cx="8190720" cy="3733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Two IOC build examples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(w/ and w/o Asyn)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with motor device/drivers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(build option) (Location: &lt;motor&gt;/motorExApp)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iocBoot examples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(controller specific st.cmd and supporting *.cmd files) (build option) (Location: &lt;motor&gt;/iocBoot/*)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Documentation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(release notes, motor record and device/driver info) (Location: &lt;motor&gt;/documentation)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29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77E777-1977-4A0C-90CC-B01EBA14F1D3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nodeType="clickEffect" fill="hold">
                      <p:stCondLst>
                        <p:cond delay="indefinite"/>
                      </p:stCondLst>
                      <p:childTnLst>
                        <p:par>
                          <p:cTn id="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nodeType="clickEffect" fill="hold">
                      <p:stCondLst>
                        <p:cond delay="indefinite"/>
                      </p:stCondLst>
                      <p:childTnLst>
                        <p:par>
                          <p:cTn id="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nodeType="clickEffect" fill="hold">
                      <p:stCondLst>
                        <p:cond delay="indefinite"/>
                      </p:stCondLst>
                      <p:childTnLst>
                        <p:par>
                          <p:cTn id="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28520" y="477720"/>
            <a:ext cx="876060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What’s the Motor module for?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85800" y="1295280"/>
            <a:ext cx="8063640" cy="1032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Device independence – motor hardware is transparent to users.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Same user displays and motor motion behavior, for all devices.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Box 11"/>
          <p:cNvSpPr/>
          <p:nvPr/>
        </p:nvSpPr>
        <p:spPr>
          <a:xfrm>
            <a:off x="762120" y="5181480"/>
            <a:ext cx="710172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499"/>
              </a:spcBef>
            </a:pPr>
            <a:endParaRPr b="1" lang="en-US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13"/>
          <p:cNvSpPr/>
          <p:nvPr/>
        </p:nvSpPr>
        <p:spPr>
          <a:xfrm>
            <a:off x="609480" y="4952880"/>
            <a:ext cx="8063640" cy="99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1" marL="743040" indent="-285840">
              <a:lnSpc>
                <a:spcPct val="100000"/>
              </a:lnSpc>
              <a:spcBef>
                <a:spcPts val="181"/>
              </a:spcBef>
              <a:spcAft>
                <a:spcPts val="181"/>
              </a:spcAft>
              <a:buClr>
                <a:srgbClr val="40404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Common device and driver level software for all supported controllers.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181"/>
              </a:spcBef>
              <a:spcAft>
                <a:spcPts val="181"/>
              </a:spcAft>
              <a:buClr>
                <a:srgbClr val="40404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Unsupported MR features are handled at the device/driver level; typically, by ignoring the request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(the price - LCD motor record features).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Picture 15" descr="motorx"/>
          <p:cNvPicPr/>
          <p:nvPr/>
        </p:nvPicPr>
        <p:blipFill>
          <a:blip r:embed="rId1"/>
          <a:stretch/>
        </p:blipFill>
        <p:spPr>
          <a:xfrm>
            <a:off x="1600200" y="2286000"/>
            <a:ext cx="1356480" cy="243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Box 16"/>
          <p:cNvSpPr/>
          <p:nvPr/>
        </p:nvSpPr>
        <p:spPr>
          <a:xfrm>
            <a:off x="5715000" y="3259080"/>
            <a:ext cx="1980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499"/>
              </a:spcBef>
            </a:pPr>
            <a:endParaRPr b="1" lang="en-US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Box 17"/>
          <p:cNvSpPr/>
          <p:nvPr/>
        </p:nvSpPr>
        <p:spPr>
          <a:xfrm>
            <a:off x="3429000" y="2514600"/>
            <a:ext cx="4876200" cy="180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Available operations from this display;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40404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Make absolute or incremental moves.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40404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Define the current position.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40404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Stop the current move.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without any controller specific information.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" dur="indefinite" restart="never" nodeType="tmRoot">
          <p:childTnLst>
            <p:seq>
              <p:cTn id="44" dur="indefinite" nodeType="mainSeq">
                <p:childTnLst>
                  <p:par>
                    <p:cTn id="45" nodeType="clickEffect" fill="hold">
                      <p:stCondLst>
                        <p:cond delay="indefinite"/>
                      </p:stCondLst>
                      <p:childTnLst>
                        <p:par>
                          <p:cTn id="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nodeType="clickEffect" fill="hold">
                      <p:stCondLst>
                        <p:cond delay="indefinite"/>
                      </p:stCondLst>
                      <p:childTnLst>
                        <p:par>
                          <p:cTn id="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28520" y="473040"/>
            <a:ext cx="8760600" cy="461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Supported Manufacturers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380880" y="1143000"/>
            <a:ext cx="8457480" cy="5010120"/>
          </a:xfrm>
          <a:prstGeom prst="rect">
            <a:avLst/>
          </a:prstGeom>
          <a:noFill/>
          <a:ln w="0">
            <a:noFill/>
          </a:ln>
        </p:spPr>
        <p:txBody>
          <a:bodyPr numCol="2" spcCol="0" lIns="91440" rIns="91440" tIns="45720" bIns="45720" anchor="t">
            <a:noAutofit/>
          </a:bodyPr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Pro-Dex (OMS)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Newport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Schneider Electric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Advanced Control Systems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Mclennan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Physik Instrumente (PI)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MicroMo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Micos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Faulhaber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Parker Hannifin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New Focus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ACS Motion Control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Spectra-Physics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Thorlabs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Animatics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piezosystem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Kohzu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attocube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Aerotech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Hytec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nPoint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Micronix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SmarAct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Phytron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30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FE097D-2F5D-404C-8DBE-4CC447E87D8B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28520" y="57240"/>
            <a:ext cx="8760600" cy="877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Does motor controller XYZ have EPICS support?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98400" y="1460520"/>
            <a:ext cx="8190720" cy="3317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Motor record document.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•"/>
            </a:pPr>
            <a:r>
              <a:rPr b="0" lang="en-US" sz="1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https://github.com/epics-modules/motor/blob/master/docs/motorRecord.html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MM location: &lt;motor&gt;/documentation/motorRecord.html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EPICS Hardware Support: by Manufacturer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•"/>
            </a:pPr>
            <a:r>
              <a:rPr b="0" lang="en-US" sz="1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http://www.aps.anl.gov/epics/modules/manufacturer.php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Not all controller support is distributed in the MM; e.g., Galil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EPICS tech-talk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(search - ask)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•"/>
            </a:pPr>
            <a:r>
              <a:rPr b="0" lang="en-US" sz="1400" strike="noStrike" u="sng">
                <a:solidFill>
                  <a:srgbClr val="7ab800"/>
                </a:solidFill>
                <a:effectLst/>
                <a:uFillTx/>
                <a:latin typeface="Calibri"/>
                <a:hlinkClick r:id="rId3"/>
              </a:rPr>
              <a:t>http://www.aps.anl.gov/epics/tech-talk/index.php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Support for stepper, servo, piezo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(deflection and slip-stick)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motors.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31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543B0D-0064-4DE3-9647-CA34C1F8AD3E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" dur="indefinite" restart="never" nodeType="tmRoot">
          <p:childTnLst>
            <p:seq>
              <p:cTn id="56" dur="indefinite" nodeType="mainSeq">
                <p:childTnLst>
                  <p:par>
                    <p:cTn id="57" nodeType="clickEffect" fill="hold">
                      <p:stCondLst>
                        <p:cond delay="indefinite"/>
                      </p:stCondLst>
                      <p:childTnLst>
                        <p:par>
                          <p:cTn id="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nodeType="clickEffect" fill="hold">
                      <p:stCondLst>
                        <p:cond delay="indefinite"/>
                      </p:stCondLst>
                      <p:childTnLst>
                        <p:par>
                          <p:cTn id="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nodeType="clickEffect" fill="hold">
                      <p:stCondLst>
                        <p:cond delay="indefinite"/>
                      </p:stCondLst>
                      <p:childTnLst>
                        <p:par>
                          <p:cTn id="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nodeType="clickEffect" fill="hold">
                      <p:stCondLst>
                        <p:cond delay="indefinite"/>
                      </p:stCondLst>
                      <p:childTnLst>
                        <p:par>
                          <p:cTn id="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28520" y="57240"/>
            <a:ext cx="8760600" cy="877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More model 3 drivers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698400" y="1460520"/>
            <a:ext cx="8190720" cy="4558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Beckhoff, TwinCAT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ADS driver: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•"/>
            </a:pPr>
            <a:r>
              <a:rPr b="0" lang="en-US" sz="1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https://github.com/epics-modules/twincat-ads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ESS, EPICS: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•"/>
            </a:pPr>
            <a:r>
              <a:rPr b="0" lang="en-US" sz="1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https://github.com/EuropeanSpallationSource/m-epics-ethercatmc/releases/tag/v3.0.2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SLAC: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•"/>
            </a:pPr>
            <a:r>
              <a:rPr b="0" lang="en-US" sz="1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3"/>
              </a:rPr>
              <a:t>https://github.com/pcdshub/ethercatmc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•"/>
            </a:pPr>
            <a:r>
              <a:rPr b="0" lang="en-US" sz="1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4"/>
              </a:rPr>
              <a:t>https://github.com/pcdshub/lcls-twincat-motion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EPICS Hardware Support: by Manufacturer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Arial"/>
              <a:buChar char="•"/>
            </a:pPr>
            <a:r>
              <a:rPr b="0" lang="en-US" sz="1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5"/>
              </a:rPr>
              <a:t>http://www.aps.anl.gov/epics/modules/manufacturer.php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Not all controller support is distributed in the MM; </a:t>
            </a:r>
            <a:br>
              <a:rPr sz="1400"/>
            </a:b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e.g. Beckhoff, DeltaTau Power PMAC,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Galil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EPICS tech-talk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(search - ask)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32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BEF288-926B-4493-BA81-BB29E042ACD4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3" dur="indefinite" restart="never" nodeType="tmRoot">
          <p:childTnLst>
            <p:seq>
              <p:cTn id="84" dur="indefinite" nodeType="mainSeq">
                <p:childTnLst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Features - scope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512640" y="1460520"/>
            <a:ext cx="8376480" cy="3491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scope of the MR is limited to single axis, non-coordinated, point to point moves.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 multi-axis coordinated motion and trajectory scans see…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https://github.com/epics-modules/motor/blob/master/docs/trajectoryScan.html</a:t>
            </a:r>
            <a:br>
              <a:rPr sz="1400"/>
            </a:b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Coordinated axes can be realized by virtual axes: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Slit system: Gap and Center vs Left and Right Blade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Softmotor: softmotor + calc/transform + hardmotor(s)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33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600C24-2EFD-4143-88BC-539ABD13295A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7" dur="indefinite" restart="never" nodeType="tmRoot">
          <p:childTnLst>
            <p:seq>
              <p:cTn id="118" dur="indefinite" nodeType="mainSeq">
                <p:childTnLst>
                  <p:par>
                    <p:cTn id="119" nodeType="clickEffect" fill="hold">
                      <p:stCondLst>
                        <p:cond delay="indefinite"/>
                      </p:stCondLst>
                      <p:childTnLst>
                        <p:par>
                          <p:cTn id="1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nodeType="clickEffect" fill="hold">
                      <p:stCondLst>
                        <p:cond delay="indefinite"/>
                      </p:stCondLst>
                      <p:childTnLst>
                        <p:par>
                          <p:cTn id="1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0" y="477720"/>
            <a:ext cx="876060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Features - coordinate systems.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0" name="Group 1082"/>
          <p:cNvGrpSpPr/>
          <p:nvPr/>
        </p:nvGrpSpPr>
        <p:grpSpPr>
          <a:xfrm>
            <a:off x="2213640" y="1019160"/>
            <a:ext cx="3729600" cy="4575240"/>
            <a:chOff x="2213640" y="1019160"/>
            <a:chExt cx="3729600" cy="4575240"/>
          </a:xfrm>
        </p:grpSpPr>
        <p:sp>
          <p:nvSpPr>
            <p:cNvPr id="141" name="Oval 1057"/>
            <p:cNvSpPr/>
            <p:nvPr/>
          </p:nvSpPr>
          <p:spPr>
            <a:xfrm>
              <a:off x="4018320" y="1712160"/>
              <a:ext cx="531000" cy="1080"/>
            </a:xfrm>
            <a:prstGeom prst="ellipse">
              <a:avLst/>
            </a:prstGeom>
            <a:noFill/>
            <a:ln w="12700">
              <a:solidFill>
                <a:srgbClr val="4040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280" bIns="-44280" anchor="ctr">
              <a:spAutoFit/>
            </a:bodyPr>
            <a:p>
              <a:pPr algn="ctr">
                <a:lnSpc>
                  <a:spcPct val="100000"/>
                </a:lnSpc>
                <a:spcBef>
                  <a:spcPts val="901"/>
                </a:spcBef>
              </a:pPr>
              <a:r>
                <a:rPr b="1" lang="en-US" sz="1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X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Rectangle 1058"/>
            <p:cNvSpPr/>
            <p:nvPr/>
          </p:nvSpPr>
          <p:spPr>
            <a:xfrm>
              <a:off x="3934080" y="1019160"/>
              <a:ext cx="713880" cy="1080"/>
            </a:xfrm>
            <a:prstGeom prst="rect">
              <a:avLst/>
            </a:prstGeom>
            <a:noFill/>
            <a:ln w="12700">
              <a:solidFill>
                <a:srgbClr val="40404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43920" bIns="-43920" anchor="ctr">
              <a:spAutoFit/>
            </a:bodyPr>
            <a:p>
              <a:pPr algn="ctr">
                <a:lnSpc>
                  <a:spcPct val="100000"/>
                </a:lnSpc>
                <a:spcBef>
                  <a:spcPts val="799"/>
                </a:spcBef>
              </a:pPr>
              <a:r>
                <a:rPr b="1" lang="en-US" sz="16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RVAL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Rectangle 1060"/>
            <p:cNvSpPr/>
            <p:nvPr/>
          </p:nvSpPr>
          <p:spPr>
            <a:xfrm>
              <a:off x="2456640" y="1865160"/>
              <a:ext cx="766440" cy="1080"/>
            </a:xfrm>
            <a:prstGeom prst="rect">
              <a:avLst/>
            </a:prstGeom>
            <a:noFill/>
            <a:ln w="12700">
              <a:solidFill>
                <a:srgbClr val="40404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43920" bIns="-43920" anchor="ctr">
              <a:spAutoFit/>
            </a:bodyPr>
            <a:p>
              <a:pPr algn="ctr">
                <a:lnSpc>
                  <a:spcPct val="100000"/>
                </a:lnSpc>
                <a:spcBef>
                  <a:spcPts val="799"/>
                </a:spcBef>
              </a:pPr>
              <a:r>
                <a:rPr b="1" lang="en-US" sz="16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MRES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Rectangle 1061"/>
            <p:cNvSpPr/>
            <p:nvPr/>
          </p:nvSpPr>
          <p:spPr>
            <a:xfrm>
              <a:off x="2213640" y="3660480"/>
              <a:ext cx="1251720" cy="1080"/>
            </a:xfrm>
            <a:prstGeom prst="rect">
              <a:avLst/>
            </a:prstGeom>
            <a:noFill/>
            <a:ln w="12700">
              <a:solidFill>
                <a:srgbClr val="40404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920" bIns="-43920" anchor="ctr">
              <a:spAutoFit/>
            </a:bodyPr>
            <a:p>
              <a:pPr algn="ctr">
                <a:lnSpc>
                  <a:spcPct val="100000"/>
                </a:lnSpc>
                <a:spcBef>
                  <a:spcPts val="799"/>
                </a:spcBef>
              </a:pPr>
              <a:r>
                <a:rPr b="1" lang="en-US" sz="16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DIR: +/- 1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Rectangle 1063"/>
            <p:cNvSpPr/>
            <p:nvPr/>
          </p:nvSpPr>
          <p:spPr>
            <a:xfrm>
              <a:off x="5357160" y="4622760"/>
              <a:ext cx="586080" cy="1080"/>
            </a:xfrm>
            <a:prstGeom prst="rect">
              <a:avLst/>
            </a:prstGeom>
            <a:noFill/>
            <a:ln w="12700">
              <a:solidFill>
                <a:srgbClr val="40404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43920" bIns="-43920" anchor="ctr">
              <a:spAutoFit/>
            </a:bodyPr>
            <a:p>
              <a:pPr algn="ctr">
                <a:lnSpc>
                  <a:spcPct val="100000"/>
                </a:lnSpc>
                <a:spcBef>
                  <a:spcPts val="799"/>
                </a:spcBef>
              </a:pPr>
              <a:r>
                <a:rPr b="1" lang="en-US" sz="16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OFF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Oval 1070"/>
            <p:cNvSpPr/>
            <p:nvPr/>
          </p:nvSpPr>
          <p:spPr>
            <a:xfrm>
              <a:off x="4018320" y="3517560"/>
              <a:ext cx="531000" cy="1080"/>
            </a:xfrm>
            <a:prstGeom prst="ellipse">
              <a:avLst/>
            </a:prstGeom>
            <a:noFill/>
            <a:ln w="12700">
              <a:solidFill>
                <a:srgbClr val="4040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280" bIns="-44280" anchor="ctr">
              <a:spAutoFit/>
            </a:bodyPr>
            <a:p>
              <a:pPr algn="ctr">
                <a:lnSpc>
                  <a:spcPct val="100000"/>
                </a:lnSpc>
                <a:spcBef>
                  <a:spcPts val="901"/>
                </a:spcBef>
              </a:pPr>
              <a:r>
                <a:rPr b="1" lang="en-US" sz="1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X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Rectangle 1071"/>
            <p:cNvSpPr/>
            <p:nvPr/>
          </p:nvSpPr>
          <p:spPr>
            <a:xfrm>
              <a:off x="3927600" y="2752920"/>
              <a:ext cx="717480" cy="1080"/>
            </a:xfrm>
            <a:prstGeom prst="rect">
              <a:avLst/>
            </a:prstGeom>
            <a:noFill/>
            <a:ln w="12700">
              <a:solidFill>
                <a:srgbClr val="40404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43920" bIns="-43920" anchor="ctr">
              <a:spAutoFit/>
            </a:bodyPr>
            <a:p>
              <a:pPr algn="ctr">
                <a:lnSpc>
                  <a:spcPct val="100000"/>
                </a:lnSpc>
                <a:spcBef>
                  <a:spcPts val="799"/>
                </a:spcBef>
              </a:pPr>
              <a:r>
                <a:rPr b="1" lang="en-US" sz="16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DVAL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Rectangle 1072"/>
            <p:cNvSpPr/>
            <p:nvPr/>
          </p:nvSpPr>
          <p:spPr>
            <a:xfrm>
              <a:off x="4013640" y="5593320"/>
              <a:ext cx="570960" cy="1080"/>
            </a:xfrm>
            <a:prstGeom prst="rect">
              <a:avLst/>
            </a:prstGeom>
            <a:noFill/>
            <a:ln w="12700">
              <a:solidFill>
                <a:srgbClr val="40404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43920" bIns="-43920" anchor="ctr">
              <a:spAutoFit/>
            </a:bodyPr>
            <a:p>
              <a:pPr algn="ctr">
                <a:lnSpc>
                  <a:spcPct val="100000"/>
                </a:lnSpc>
                <a:spcBef>
                  <a:spcPts val="799"/>
                </a:spcBef>
              </a:pPr>
              <a:r>
                <a:rPr b="1" lang="en-US" sz="16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VAL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Oval 1073"/>
            <p:cNvSpPr/>
            <p:nvPr/>
          </p:nvSpPr>
          <p:spPr>
            <a:xfrm>
              <a:off x="4080240" y="4490280"/>
              <a:ext cx="455040" cy="1080"/>
            </a:xfrm>
            <a:prstGeom prst="ellipse">
              <a:avLst/>
            </a:prstGeom>
            <a:noFill/>
            <a:ln w="12700">
              <a:solidFill>
                <a:srgbClr val="4040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280" bIns="-44280" anchor="ctr">
              <a:spAutoFit/>
            </a:bodyPr>
            <a:p>
              <a:pPr algn="ctr">
                <a:lnSpc>
                  <a:spcPct val="100000"/>
                </a:lnSpc>
                <a:spcBef>
                  <a:spcPts val="901"/>
                </a:spcBef>
              </a:pPr>
              <a:r>
                <a:rPr b="1" lang="en-US" sz="18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+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50" name="AutoShape 1074"/>
            <p:cNvCxnSpPr>
              <a:stCxn id="142" idx="2"/>
              <a:endCxn id="141" idx="0"/>
            </p:cNvCxnSpPr>
            <p:nvPr/>
          </p:nvCxnSpPr>
          <p:spPr>
            <a:xfrm flipH="1">
              <a:off x="4284000" y="1020240"/>
              <a:ext cx="7200" cy="692280"/>
            </a:xfrm>
            <a:prstGeom prst="straightConnector1">
              <a:avLst/>
            </a:prstGeom>
            <a:ln w="12700">
              <a:solidFill>
                <a:srgbClr val="404040"/>
              </a:solidFill>
              <a:round/>
              <a:tailEnd len="med" type="triangle" w="med"/>
            </a:ln>
          </p:spPr>
        </p:cxnSp>
        <p:cxnSp>
          <p:nvCxnSpPr>
            <p:cNvPr id="151" name="AutoShape 1075"/>
            <p:cNvCxnSpPr>
              <a:endCxn id="141" idx="2"/>
            </p:cNvCxnSpPr>
            <p:nvPr/>
          </p:nvCxnSpPr>
          <p:spPr>
            <a:xfrm flipV="1">
              <a:off x="3291120" y="1712880"/>
              <a:ext cx="727560" cy="402480"/>
            </a:xfrm>
            <a:prstGeom prst="straightConnector1">
              <a:avLst/>
            </a:prstGeom>
            <a:ln w="12700">
              <a:solidFill>
                <a:srgbClr val="404040"/>
              </a:solidFill>
              <a:round/>
              <a:tailEnd len="med" type="triangle" w="med"/>
            </a:ln>
          </p:spPr>
        </p:cxnSp>
        <p:cxnSp>
          <p:nvCxnSpPr>
            <p:cNvPr id="152" name="AutoShape 1076"/>
            <p:cNvCxnSpPr>
              <a:stCxn id="141" idx="4"/>
              <a:endCxn id="147" idx="0"/>
            </p:cNvCxnSpPr>
            <p:nvPr/>
          </p:nvCxnSpPr>
          <p:spPr>
            <a:xfrm>
              <a:off x="4284000" y="1713240"/>
              <a:ext cx="2520" cy="1040040"/>
            </a:xfrm>
            <a:prstGeom prst="straightConnector1">
              <a:avLst/>
            </a:prstGeom>
            <a:ln w="12700">
              <a:solidFill>
                <a:srgbClr val="404040"/>
              </a:solidFill>
              <a:round/>
              <a:tailEnd len="med" type="triangle" w="med"/>
            </a:ln>
          </p:spPr>
        </p:cxnSp>
        <p:cxnSp>
          <p:nvCxnSpPr>
            <p:cNvPr id="153" name="AutoShape 1077"/>
            <p:cNvCxnSpPr>
              <a:stCxn id="147" idx="2"/>
              <a:endCxn id="146" idx="0"/>
            </p:cNvCxnSpPr>
            <p:nvPr/>
          </p:nvCxnSpPr>
          <p:spPr>
            <a:xfrm flipH="1">
              <a:off x="4284000" y="2754000"/>
              <a:ext cx="2520" cy="763920"/>
            </a:xfrm>
            <a:prstGeom prst="straightConnector1">
              <a:avLst/>
            </a:prstGeom>
            <a:ln w="12700">
              <a:solidFill>
                <a:srgbClr val="404040"/>
              </a:solidFill>
              <a:round/>
              <a:tailEnd len="med" type="triangle" w="med"/>
            </a:ln>
          </p:spPr>
        </p:cxnSp>
        <p:cxnSp>
          <p:nvCxnSpPr>
            <p:cNvPr id="154" name="AutoShape 1078"/>
            <p:cNvCxnSpPr>
              <a:stCxn id="144" idx="3"/>
              <a:endCxn id="146" idx="2"/>
            </p:cNvCxnSpPr>
            <p:nvPr/>
          </p:nvCxnSpPr>
          <p:spPr>
            <a:xfrm flipV="1">
              <a:off x="3465360" y="3518280"/>
              <a:ext cx="553320" cy="142920"/>
            </a:xfrm>
            <a:prstGeom prst="straightConnector1">
              <a:avLst/>
            </a:prstGeom>
            <a:ln w="12700">
              <a:solidFill>
                <a:srgbClr val="404040"/>
              </a:solidFill>
              <a:round/>
              <a:tailEnd len="med" type="triangle" w="med"/>
            </a:ln>
          </p:spPr>
        </p:cxnSp>
        <p:cxnSp>
          <p:nvCxnSpPr>
            <p:cNvPr id="155" name="AutoShape 1079"/>
            <p:cNvCxnSpPr/>
            <p:nvPr/>
          </p:nvCxnSpPr>
          <p:spPr>
            <a:xfrm>
              <a:off x="4308840" y="4182840"/>
              <a:ext cx="13320" cy="421200"/>
            </a:xfrm>
            <a:prstGeom prst="straightConnector1">
              <a:avLst/>
            </a:prstGeom>
            <a:ln w="12700">
              <a:solidFill>
                <a:srgbClr val="404040"/>
              </a:solidFill>
              <a:round/>
              <a:tailEnd len="med" type="triangle" w="med"/>
            </a:ln>
          </p:spPr>
        </p:cxnSp>
        <p:cxnSp>
          <p:nvCxnSpPr>
            <p:cNvPr id="156" name="AutoShape 1080"/>
            <p:cNvCxnSpPr>
              <a:stCxn id="145" idx="1"/>
              <a:endCxn id="149" idx="6"/>
            </p:cNvCxnSpPr>
            <p:nvPr/>
          </p:nvCxnSpPr>
          <p:spPr>
            <a:xfrm flipH="1" flipV="1">
              <a:off x="4535280" y="4491000"/>
              <a:ext cx="822240" cy="132480"/>
            </a:xfrm>
            <a:prstGeom prst="straightConnector1">
              <a:avLst/>
            </a:prstGeom>
            <a:ln w="12700">
              <a:solidFill>
                <a:srgbClr val="404040"/>
              </a:solidFill>
              <a:round/>
              <a:tailEnd len="med" type="triangle" w="med"/>
            </a:ln>
          </p:spPr>
        </p:cxnSp>
        <p:cxnSp>
          <p:nvCxnSpPr>
            <p:cNvPr id="157" name="AutoShape 1081"/>
            <p:cNvCxnSpPr>
              <a:stCxn id="149" idx="4"/>
              <a:endCxn id="148" idx="0"/>
            </p:cNvCxnSpPr>
            <p:nvPr/>
          </p:nvCxnSpPr>
          <p:spPr>
            <a:xfrm flipH="1">
              <a:off x="4299120" y="4491360"/>
              <a:ext cx="9000" cy="1102320"/>
            </a:xfrm>
            <a:prstGeom prst="straightConnector1">
              <a:avLst/>
            </a:prstGeom>
            <a:ln w="12700">
              <a:solidFill>
                <a:srgbClr val="404040"/>
              </a:solidFill>
              <a:round/>
              <a:tailEnd len="med" type="triangle" w="med"/>
            </a:ln>
          </p:spPr>
        </p:cxnSp>
      </p:grpSp>
      <p:sp>
        <p:nvSpPr>
          <p:cNvPr id="158" name="Text Box 1083"/>
          <p:cNvSpPr/>
          <p:nvPr/>
        </p:nvSpPr>
        <p:spPr>
          <a:xfrm>
            <a:off x="6544440" y="1095480"/>
            <a:ext cx="704160" cy="410400"/>
          </a:xfrm>
          <a:prstGeom prst="rect">
            <a:avLst/>
          </a:prstGeom>
          <a:solidFill>
            <a:schemeClr val="bg2"/>
          </a:solidFill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Raw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Box 1084"/>
          <p:cNvSpPr/>
          <p:nvPr/>
        </p:nvSpPr>
        <p:spPr>
          <a:xfrm>
            <a:off x="6537240" y="2809800"/>
            <a:ext cx="661320" cy="410400"/>
          </a:xfrm>
          <a:prstGeom prst="rect">
            <a:avLst/>
          </a:prstGeom>
          <a:solidFill>
            <a:schemeClr val="bg2"/>
          </a:solidFill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Box 1085"/>
          <p:cNvSpPr/>
          <p:nvPr/>
        </p:nvSpPr>
        <p:spPr>
          <a:xfrm>
            <a:off x="6523920" y="5587920"/>
            <a:ext cx="746640" cy="410400"/>
          </a:xfrm>
          <a:prstGeom prst="rect">
            <a:avLst/>
          </a:prstGeom>
          <a:solidFill>
            <a:schemeClr val="bg2"/>
          </a:solidFill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User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AutoShape 1086"/>
          <p:cNvSpPr/>
          <p:nvPr/>
        </p:nvSpPr>
        <p:spPr>
          <a:xfrm rot="5400000">
            <a:off x="6373800" y="1877040"/>
            <a:ext cx="975600" cy="484920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hlink"/>
          </a:solidFill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1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2" name="AutoShape 1087"/>
          <p:cNvSpPr/>
          <p:nvPr/>
        </p:nvSpPr>
        <p:spPr>
          <a:xfrm rot="5400000">
            <a:off x="6373800" y="4132800"/>
            <a:ext cx="975600" cy="484920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hlink"/>
          </a:solidFill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1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Box 1088"/>
          <p:cNvSpPr/>
          <p:nvPr/>
        </p:nvSpPr>
        <p:spPr>
          <a:xfrm>
            <a:off x="563400" y="2746440"/>
            <a:ext cx="1011960" cy="410400"/>
          </a:xfrm>
          <a:prstGeom prst="rect">
            <a:avLst/>
          </a:prstGeom>
          <a:solidFill>
            <a:schemeClr val="bg2"/>
          </a:solidFill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EGU’s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Box 1089"/>
          <p:cNvSpPr/>
          <p:nvPr/>
        </p:nvSpPr>
        <p:spPr>
          <a:xfrm>
            <a:off x="114480" y="1046160"/>
            <a:ext cx="1829520" cy="400680"/>
          </a:xfrm>
          <a:prstGeom prst="rect">
            <a:avLst/>
          </a:prstGeom>
          <a:solidFill>
            <a:schemeClr val="bg2"/>
          </a:solidFill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steps or ticks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AutoShape 1090"/>
          <p:cNvSpPr/>
          <p:nvPr/>
        </p:nvSpPr>
        <p:spPr>
          <a:xfrm rot="5400000">
            <a:off x="599040" y="1849320"/>
            <a:ext cx="853200" cy="484920"/>
          </a:xfrm>
          <a:prstGeom prst="rightArrow">
            <a:avLst>
              <a:gd name="adj1" fmla="val 50000"/>
              <a:gd name="adj2" fmla="val 43954"/>
            </a:avLst>
          </a:prstGeom>
          <a:solidFill>
            <a:schemeClr val="hlink"/>
          </a:solidFill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1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ldNum" idx="34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3A3782-E625-4C1D-A6AF-C77DB0E11AB0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Features - coordinate systems.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380880" y="1155600"/>
            <a:ext cx="8508240" cy="5015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Some controllers use raw units to communicate.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81200" indent="-38088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MR communicates to device support in raw units.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81200" indent="-38088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Position, velocity and acceleration MR commands to device support are in steps, steps/sec and steps/sec^2.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Other controllers communicate in engineering units (EGU’s); e.g., inch, mm, degrees. Device support handles the conversion.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(motorRecord of ess-master can be configured to use EGU’s)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Motor resolution field (MRES) converts raw values to dial values.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38080" indent="-38088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Convert raw target position (RVAL) to dial target (DVAL):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5280" indent="-3808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DVAL [EGU’s] = RVAL [steps] * MRES [EGU’s/step]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 units are based on dial units, the User Direction field (DIR) and the User Offset field (OFF)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38080" indent="-38088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Convert dial target position (DVAL) to user target (VAL):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5280" indent="-3808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VAL = (DVAL * DIR) + OFF; where DIR = +/- 1.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35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28B601-D57A-450C-A81B-980F549A4130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7" dur="indefinite" restart="never" nodeType="tmRoot">
          <p:childTnLst>
            <p:seq>
              <p:cTn id="138" dur="indefinite" nodeType="mainSeq">
                <p:childTnLst>
                  <p:par>
                    <p:cTn id="139" nodeType="clickEffect" fill="hold">
                      <p:stCondLst>
                        <p:cond delay="indefinite"/>
                      </p:stCondLst>
                      <p:childTnLst>
                        <p:par>
                          <p:cTn id="1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nodeType="clickEffect" fill="hold">
                      <p:stCondLst>
                        <p:cond delay="indefinite"/>
                      </p:stCondLst>
                      <p:childTnLst>
                        <p:par>
                          <p:cTn id="1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nodeType="clickEffect" fill="hold">
                      <p:stCondLst>
                        <p:cond delay="indefinite"/>
                      </p:stCondLst>
                      <p:childTnLst>
                        <p:par>
                          <p:cTn id="1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Features – Move types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512640" y="1460520"/>
            <a:ext cx="8376480" cy="1077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Absolute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(VAL, DVAL, RVAL)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Relative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(RLV)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Incremental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(TWF, TWR, TWV)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36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5E1FCB-AA85-43A7-8B84-9A26F9DB9692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9" dur="indefinite" restart="never" nodeType="tmRoot">
          <p:childTnLst>
            <p:seq>
              <p:cTn id="160" dur="indefinite" nodeType="mainSeq">
                <p:childTnLst>
                  <p:par>
                    <p:cTn id="161" nodeType="clickEffect" fill="hold">
                      <p:stCondLst>
                        <p:cond delay="indefinite"/>
                      </p:stCondLst>
                      <p:childTnLst>
                        <p:par>
                          <p:cTn id="1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/>
          </p:nvPr>
        </p:nvSpPr>
        <p:spPr>
          <a:xfrm>
            <a:off x="838080" y="1968480"/>
            <a:ext cx="8470080" cy="769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Picture 1" descr=""/>
          <p:cNvPicPr/>
          <p:nvPr/>
        </p:nvPicPr>
        <p:blipFill>
          <a:blip r:embed="rId1"/>
          <a:stretch/>
        </p:blipFill>
        <p:spPr>
          <a:xfrm>
            <a:off x="2867040" y="0"/>
            <a:ext cx="34092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Oval 15"/>
          <p:cNvSpPr/>
          <p:nvPr/>
        </p:nvSpPr>
        <p:spPr>
          <a:xfrm>
            <a:off x="1263600" y="29160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Oval 15"/>
          <p:cNvSpPr/>
          <p:nvPr/>
        </p:nvSpPr>
        <p:spPr>
          <a:xfrm>
            <a:off x="6713640" y="109944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DVAL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Oval 15"/>
          <p:cNvSpPr/>
          <p:nvPr/>
        </p:nvSpPr>
        <p:spPr>
          <a:xfrm>
            <a:off x="6699240" y="35964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RVAL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Oval 15"/>
          <p:cNvSpPr/>
          <p:nvPr/>
        </p:nvSpPr>
        <p:spPr>
          <a:xfrm>
            <a:off x="1160640" y="1963080"/>
            <a:ext cx="1010520" cy="73728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TWF/TWR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Oval 15"/>
          <p:cNvSpPr/>
          <p:nvPr/>
        </p:nvSpPr>
        <p:spPr>
          <a:xfrm>
            <a:off x="1189080" y="121392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RLV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Oval 15"/>
          <p:cNvSpPr/>
          <p:nvPr/>
        </p:nvSpPr>
        <p:spPr>
          <a:xfrm>
            <a:off x="1784520" y="283464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TWV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Line 18"/>
          <p:cNvSpPr/>
          <p:nvPr/>
        </p:nvSpPr>
        <p:spPr>
          <a:xfrm>
            <a:off x="2171520" y="1427040"/>
            <a:ext cx="1346040" cy="10152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Line 18"/>
          <p:cNvSpPr/>
          <p:nvPr/>
        </p:nvSpPr>
        <p:spPr>
          <a:xfrm>
            <a:off x="2259000" y="522000"/>
            <a:ext cx="1258560" cy="57960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Line 18"/>
          <p:cNvSpPr/>
          <p:nvPr/>
        </p:nvSpPr>
        <p:spPr>
          <a:xfrm flipV="1">
            <a:off x="2171520" y="1798560"/>
            <a:ext cx="1297080" cy="32220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Line 18"/>
          <p:cNvSpPr/>
          <p:nvPr/>
        </p:nvSpPr>
        <p:spPr>
          <a:xfrm flipV="1">
            <a:off x="2500200" y="1854000"/>
            <a:ext cx="1314360" cy="99684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Line 11"/>
          <p:cNvSpPr/>
          <p:nvPr/>
        </p:nvSpPr>
        <p:spPr>
          <a:xfrm flipH="1">
            <a:off x="5848200" y="563400"/>
            <a:ext cx="851040" cy="54288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Line 11"/>
          <p:cNvSpPr/>
          <p:nvPr/>
        </p:nvSpPr>
        <p:spPr>
          <a:xfrm flipH="1" flipV="1">
            <a:off x="4992480" y="1106280"/>
            <a:ext cx="1720800" cy="21420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sldNum" idx="37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65C5A8-C343-41E4-95CB-D21DBFAD3205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3" dur="indefinite" restart="never" nodeType="tmRoot">
          <p:childTnLst>
            <p:seq>
              <p:cTn id="174" dur="indefinite" nodeType="mainSeq">
                <p:childTnLst>
                  <p:par>
                    <p:cTn id="175" nodeType="clickEffect" fill="hold">
                      <p:stCondLst>
                        <p:cond delay="indefinite"/>
                      </p:stCondLst>
                      <p:childTnLst>
                        <p:par>
                          <p:cTn id="1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17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128520" y="473040"/>
            <a:ext cx="8760600" cy="461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Features – Velocity and Acceleration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512640" y="1460520"/>
            <a:ext cx="8376480" cy="1877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Maximum Velocity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(VMAX)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Slew Velocity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(VELO)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Base Velocity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(VBAS)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– for stepper motors only to minimize resonance.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Slew Acceleration time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(ACCL [sec])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– </a:t>
            </a:r>
            <a:r>
              <a:rPr b="0" lang="da-DK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acc. rate [step/s^2] = (VELO - VBAS) / ACCL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38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rgbClr val="40404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EA62A4-173C-4A74-8F5F-D5FE58116F11}" type="slidenum">
              <a:rPr b="0" lang="en-US" sz="900" strike="noStrike" u="none">
                <a:solidFill>
                  <a:srgbClr val="404040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9" dur="indefinite" restart="never" nodeType="tmRoot">
          <p:childTnLst>
            <p:seq>
              <p:cTn id="180" dur="indefinite" nodeType="mainSeq">
                <p:childTnLst>
                  <p:par>
                    <p:cTn id="181" nodeType="clickEffect" fill="hold">
                      <p:stCondLst>
                        <p:cond delay="indefinite"/>
                      </p:stCondLst>
                      <p:childTnLst>
                        <p:par>
                          <p:cTn id="18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/>
          </p:nvPr>
        </p:nvSpPr>
        <p:spPr>
          <a:xfrm>
            <a:off x="990720" y="1928160"/>
            <a:ext cx="8470080" cy="769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Picture 1" descr=""/>
          <p:cNvPicPr/>
          <p:nvPr/>
        </p:nvPicPr>
        <p:blipFill>
          <a:blip r:embed="rId1"/>
          <a:stretch/>
        </p:blipFill>
        <p:spPr>
          <a:xfrm>
            <a:off x="2867040" y="0"/>
            <a:ext cx="34092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Oval 15"/>
          <p:cNvSpPr/>
          <p:nvPr/>
        </p:nvSpPr>
        <p:spPr>
          <a:xfrm>
            <a:off x="1185120" y="175104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404040"/>
                </a:solidFill>
                <a:effectLst/>
                <a:uFillTx/>
                <a:latin typeface="Arial"/>
              </a:rPr>
              <a:t>VMAX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Oval 15"/>
          <p:cNvSpPr/>
          <p:nvPr/>
        </p:nvSpPr>
        <p:spPr>
          <a:xfrm>
            <a:off x="1219320" y="398412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404040"/>
                </a:solidFill>
                <a:effectLst/>
                <a:uFillTx/>
                <a:latin typeface="Arial"/>
              </a:rPr>
              <a:t>ACCL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Oval 15"/>
          <p:cNvSpPr/>
          <p:nvPr/>
        </p:nvSpPr>
        <p:spPr>
          <a:xfrm>
            <a:off x="1185120" y="257184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404040"/>
                </a:solidFill>
                <a:effectLst/>
                <a:uFillTx/>
                <a:latin typeface="Arial"/>
              </a:rPr>
              <a:t>VELO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Oval 15"/>
          <p:cNvSpPr/>
          <p:nvPr/>
        </p:nvSpPr>
        <p:spPr>
          <a:xfrm>
            <a:off x="1185120" y="3216240"/>
            <a:ext cx="1010520" cy="43344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404040"/>
                </a:solidFill>
                <a:effectLst/>
                <a:uFillTx/>
                <a:latin typeface="Arial"/>
              </a:rPr>
              <a:t>VBAS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Line 18"/>
          <p:cNvSpPr/>
          <p:nvPr/>
        </p:nvSpPr>
        <p:spPr>
          <a:xfrm>
            <a:off x="2185200" y="2825640"/>
            <a:ext cx="1346040" cy="10152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404040"/>
              </a:solidFill>
              <a:effectLst/>
              <a:uFillTx/>
              <a:latin typeface="Calibri"/>
            </a:endParaRPr>
          </a:p>
        </p:txBody>
      </p:sp>
      <p:sp>
        <p:nvSpPr>
          <p:cNvPr id="198" name="Line 18"/>
          <p:cNvSpPr/>
          <p:nvPr/>
        </p:nvSpPr>
        <p:spPr>
          <a:xfrm>
            <a:off x="2185200" y="1979640"/>
            <a:ext cx="1396080" cy="64188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404040"/>
              </a:solidFill>
              <a:effectLst/>
              <a:uFillTx/>
              <a:latin typeface="Calibri"/>
            </a:endParaRPr>
          </a:p>
        </p:txBody>
      </p:sp>
      <p:sp>
        <p:nvSpPr>
          <p:cNvPr id="199" name="Line 18"/>
          <p:cNvSpPr/>
          <p:nvPr/>
        </p:nvSpPr>
        <p:spPr>
          <a:xfrm flipV="1">
            <a:off x="2209680" y="3124080"/>
            <a:ext cx="1371600" cy="32940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404040"/>
              </a:solidFill>
              <a:effectLst/>
              <a:uFillTx/>
              <a:latin typeface="Calibri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ldNum" idx="39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rgbClr val="40404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718DE8-98AB-4291-B840-8515BE490BEC}" type="slidenum">
              <a:rPr b="0" lang="en-US" sz="900" strike="noStrike" u="none">
                <a:solidFill>
                  <a:srgbClr val="404040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Line 18"/>
          <p:cNvSpPr/>
          <p:nvPr/>
        </p:nvSpPr>
        <p:spPr>
          <a:xfrm flipV="1">
            <a:off x="2230200" y="3353400"/>
            <a:ext cx="1364400" cy="79272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40404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7" dur="indefinite" restart="never" nodeType="tmRoot">
          <p:childTnLst>
            <p:seq>
              <p:cTn id="198" dur="indefinite" nodeType="mainSeq">
                <p:childTnLst>
                  <p:par>
                    <p:cTn id="199" nodeType="clickEffect" fill="hold">
                      <p:stCondLst>
                        <p:cond delay="indefinite"/>
                      </p:stCondLst>
                      <p:childTnLst>
                        <p:par>
                          <p:cTn id="2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20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28520" y="473040"/>
            <a:ext cx="8760600" cy="461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Features – Homing, Jogging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512640" y="1460520"/>
            <a:ext cx="8376480" cy="1877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Home search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(HOMF, HOMR, HVEL)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Jogging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(JOGF, JOGR, JVEL, JAR)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Safety issues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Commissioning a stage? Check hardware limit switches 1</a:t>
            </a:r>
            <a:r>
              <a:rPr b="0" lang="en-US" sz="1400" strike="noStrike" u="none" baseline="30000">
                <a:solidFill>
                  <a:srgbClr val="000000"/>
                </a:solidFill>
                <a:effectLst/>
                <a:uFillTx/>
                <a:latin typeface="Calibri"/>
              </a:rPr>
              <a:t>st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pinch hazards, remote operation, servo systems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40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AE621A-9CE2-4653-A42C-0D2EECCCFBB0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3" dur="indefinite" restart="never" nodeType="tmRoot">
          <p:childTnLst>
            <p:seq>
              <p:cTn id="204" dur="indefinite" nodeType="mainSeq">
                <p:childTnLst>
                  <p:par>
                    <p:cTn id="205" nodeType="clickEffect" fill="hold">
                      <p:stCondLst>
                        <p:cond delay="indefinite"/>
                      </p:stCondLst>
                      <p:childTnLst>
                        <p:par>
                          <p:cTn id="2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nodeType="clickEffect" fill="hold">
                      <p:stCondLst>
                        <p:cond delay="indefinite"/>
                      </p:stCondLst>
                      <p:childTnLst>
                        <p:par>
                          <p:cTn id="2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nodeType="clickEffect" fill="hold">
                      <p:stCondLst>
                        <p:cond delay="indefinite"/>
                      </p:stCondLst>
                      <p:childTnLst>
                        <p:par>
                          <p:cTn id="2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Picture 1" descr=""/>
          <p:cNvPicPr/>
          <p:nvPr/>
        </p:nvPicPr>
        <p:blipFill>
          <a:blip r:embed="rId1"/>
          <a:stretch/>
        </p:blipFill>
        <p:spPr>
          <a:xfrm>
            <a:off x="2867040" y="0"/>
            <a:ext cx="34092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Oval 15"/>
          <p:cNvSpPr/>
          <p:nvPr/>
        </p:nvSpPr>
        <p:spPr>
          <a:xfrm>
            <a:off x="6711840" y="332208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Line 11"/>
          <p:cNvSpPr/>
          <p:nvPr/>
        </p:nvSpPr>
        <p:spPr>
          <a:xfrm flipH="1">
            <a:off x="5789520" y="2809800"/>
            <a:ext cx="922320" cy="11412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Line 11"/>
          <p:cNvSpPr/>
          <p:nvPr/>
        </p:nvSpPr>
        <p:spPr>
          <a:xfrm flipH="1" flipV="1">
            <a:off x="5789520" y="3311280"/>
            <a:ext cx="922320" cy="18108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Oval 15"/>
          <p:cNvSpPr/>
          <p:nvPr/>
        </p:nvSpPr>
        <p:spPr>
          <a:xfrm>
            <a:off x="6796080" y="1162080"/>
            <a:ext cx="1866240" cy="4341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JOGF/JOGR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Line 18"/>
          <p:cNvSpPr/>
          <p:nvPr/>
        </p:nvSpPr>
        <p:spPr>
          <a:xfrm>
            <a:off x="2562120" y="1528560"/>
            <a:ext cx="1762200" cy="23328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Oval 15"/>
          <p:cNvSpPr/>
          <p:nvPr/>
        </p:nvSpPr>
        <p:spPr>
          <a:xfrm>
            <a:off x="709560" y="1301760"/>
            <a:ext cx="1853640" cy="4341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HOMF/HOMR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Line 11"/>
          <p:cNvSpPr/>
          <p:nvPr/>
        </p:nvSpPr>
        <p:spPr>
          <a:xfrm flipH="1">
            <a:off x="5057640" y="1366560"/>
            <a:ext cx="1738440" cy="22392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3" name="Oval 15"/>
          <p:cNvSpPr/>
          <p:nvPr/>
        </p:nvSpPr>
        <p:spPr>
          <a:xfrm>
            <a:off x="6711840" y="257436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1"/>
          <p:cNvSpPr>
            <a:spLocks noGrp="1"/>
          </p:cNvSpPr>
          <p:nvPr>
            <p:ph type="sldNum" idx="41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A37921-2823-4A28-80D3-8F05F4BF0CB3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Features – Set position, soft travel limits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512640" y="1460520"/>
            <a:ext cx="8376480" cy="1137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Define current position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(SET, FOFF)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Software travel limits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(HLM, LLM, DHLM, DLLM) (disabled if  DHLM = DLLM = 0)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42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4D891E-7897-4166-BE71-33DCBDC2B149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Rectangle 1"/>
          <p:cNvSpPr/>
          <p:nvPr/>
        </p:nvSpPr>
        <p:spPr>
          <a:xfrm>
            <a:off x="0" y="43920"/>
            <a:ext cx="8381160" cy="34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1" dur="indefinite" restart="never" nodeType="tmRoot">
          <p:childTnLst>
            <p:seq>
              <p:cTn id="222" dur="indefinite" nodeType="mainSeq">
                <p:childTnLst>
                  <p:par>
                    <p:cTn id="223" nodeType="clickEffect" fill="hold">
                      <p:stCondLst>
                        <p:cond delay="indefinite"/>
                      </p:stCondLst>
                      <p:childTnLst>
                        <p:par>
                          <p:cTn id="2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nodeType="clickEffect" fill="hold">
                      <p:stCondLst>
                        <p:cond delay="indefinite"/>
                      </p:stCondLst>
                      <p:childTnLst>
                        <p:par>
                          <p:cTn id="2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icture 1" descr=""/>
          <p:cNvPicPr/>
          <p:nvPr/>
        </p:nvPicPr>
        <p:blipFill>
          <a:blip r:embed="rId1"/>
          <a:stretch/>
        </p:blipFill>
        <p:spPr>
          <a:xfrm>
            <a:off x="2867040" y="0"/>
            <a:ext cx="34092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Oval 15"/>
          <p:cNvSpPr/>
          <p:nvPr/>
        </p:nvSpPr>
        <p:spPr>
          <a:xfrm>
            <a:off x="1515960" y="2466720"/>
            <a:ext cx="843840" cy="4341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Line 18"/>
          <p:cNvSpPr/>
          <p:nvPr/>
        </p:nvSpPr>
        <p:spPr>
          <a:xfrm flipV="1">
            <a:off x="2360520" y="2322360"/>
            <a:ext cx="761760" cy="30780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2" name="Oval 15"/>
          <p:cNvSpPr/>
          <p:nvPr/>
        </p:nvSpPr>
        <p:spPr>
          <a:xfrm>
            <a:off x="485640" y="411120"/>
            <a:ext cx="1874160" cy="4341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HLM/LLM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Line 18"/>
          <p:cNvSpPr/>
          <p:nvPr/>
        </p:nvSpPr>
        <p:spPr>
          <a:xfrm>
            <a:off x="2360520" y="625320"/>
            <a:ext cx="1116000" cy="13176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" name="Oval 15"/>
          <p:cNvSpPr/>
          <p:nvPr/>
        </p:nvSpPr>
        <p:spPr>
          <a:xfrm>
            <a:off x="6783480" y="971640"/>
            <a:ext cx="1897920" cy="4341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DHLM/DLLM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Line 11"/>
          <p:cNvSpPr/>
          <p:nvPr/>
        </p:nvSpPr>
        <p:spPr>
          <a:xfrm flipH="1">
            <a:off x="5082840" y="1198440"/>
            <a:ext cx="1700280" cy="13644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" name="Oval 15"/>
          <p:cNvSpPr/>
          <p:nvPr/>
        </p:nvSpPr>
        <p:spPr>
          <a:xfrm>
            <a:off x="6783480" y="185976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FOFF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Line 11"/>
          <p:cNvSpPr/>
          <p:nvPr/>
        </p:nvSpPr>
        <p:spPr>
          <a:xfrm flipH="1" flipV="1">
            <a:off x="5082840" y="2027160"/>
            <a:ext cx="1700280" cy="4284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" name="Line 18"/>
          <p:cNvSpPr/>
          <p:nvPr/>
        </p:nvSpPr>
        <p:spPr>
          <a:xfrm>
            <a:off x="2360520" y="625320"/>
            <a:ext cx="1116000" cy="70488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Line 11"/>
          <p:cNvSpPr/>
          <p:nvPr/>
        </p:nvSpPr>
        <p:spPr>
          <a:xfrm flipH="1" flipV="1">
            <a:off x="5016240" y="684000"/>
            <a:ext cx="1766880" cy="44928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" name="PlaceHolder 1"/>
          <p:cNvSpPr>
            <a:spLocks noGrp="1"/>
          </p:cNvSpPr>
          <p:nvPr>
            <p:ph type="sldNum" idx="43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1223E1-D450-43A3-82F0-07B985BCD635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Features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436680" y="1460520"/>
            <a:ext cx="8470080" cy="3907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Send motor controller command primitives at initialization, pre-move and post-move;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(INIT, PREM, POST)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 (Not model 3)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Drive Power Monitoring and Motor Synchronized DB Puts via Device Directives.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 initiated updates via the Status Update field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(STUP)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 few fields are motor type specific;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PID parameters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(PCOF/ICOF/DCOF)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for servo motors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(normalized to 0 -&gt; 1)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Velocity base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(VBAS)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for stepper motors.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Done Moving Input Link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(DINP)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for Soft Channel.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Position feedback from either a EPICS PV link or a motor controller.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44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0514CF-8860-4982-8637-B0D868B6FBF6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1" dur="indefinite" restart="never" nodeType="tmRoot">
          <p:childTnLst>
            <p:seq>
              <p:cTn id="232" dur="indefinite" nodeType="mainSeq">
                <p:childTnLst>
                  <p:par>
                    <p:cTn id="233" nodeType="clickEffect" fill="hold">
                      <p:stCondLst>
                        <p:cond delay="indefinite"/>
                      </p:stCondLst>
                      <p:childTnLst>
                        <p:par>
                          <p:cTn id="2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nodeType="clickEffect" fill="hold">
                      <p:stCondLst>
                        <p:cond delay="indefinite"/>
                      </p:stCondLst>
                      <p:childTnLst>
                        <p:par>
                          <p:cTn id="2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nodeType="clickEffect" fill="hold">
                      <p:stCondLst>
                        <p:cond delay="indefinite"/>
                      </p:stCondLst>
                      <p:childTnLst>
                        <p:par>
                          <p:cTn id="2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nodeType="clickEffect" fill="hold">
                      <p:stCondLst>
                        <p:cond delay="indefinite"/>
                      </p:stCondLst>
                      <p:childTnLst>
                        <p:par>
                          <p:cTn id="2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nodeType="clickEffect" fill="hold">
                      <p:stCondLst>
                        <p:cond delay="indefinite"/>
                      </p:stCondLst>
                      <p:childTnLst>
                        <p:par>
                          <p:cTn id="2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128520" y="477720"/>
            <a:ext cx="876060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Configuration example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Picture 4" descr="ma4006b_400"/>
          <p:cNvPicPr/>
          <p:nvPr/>
        </p:nvPicPr>
        <p:blipFill>
          <a:blip r:embed="rId1"/>
          <a:stretch/>
        </p:blipFill>
        <p:spPr>
          <a:xfrm>
            <a:off x="685800" y="990720"/>
            <a:ext cx="5257080" cy="333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Rectangle 7"/>
          <p:cNvSpPr/>
          <p:nvPr/>
        </p:nvSpPr>
        <p:spPr>
          <a:xfrm>
            <a:off x="609480" y="4267080"/>
            <a:ext cx="8000280" cy="18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  <a:buClr>
                <a:srgbClr val="c28500"/>
              </a:buClr>
              <a:buSzPct val="125000"/>
              <a:buFont typeface="Symbol" charset="2"/>
              <a:buChar char=""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Set the engineering units field (EGU); inch, mm, degrees 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  <a:buClr>
                <a:srgbClr val="c28500"/>
              </a:buClr>
              <a:buSzPct val="125000"/>
              <a:buFont typeface="Symbol" charset="2"/>
              <a:buChar char=""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Set the motor resolution (MRES) field which is in units of …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  <a:buClr>
                <a:srgbClr val="404040"/>
              </a:buClr>
              <a:buFont typeface="Symbol" charset="2"/>
              <a:buChar char="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(EGU’s / motor step) for stepper motors.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  <a:buClr>
                <a:srgbClr val="404040"/>
              </a:buClr>
              <a:buFont typeface="Symbol" charset="2"/>
              <a:buChar char="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(EGU’s / encoder tick) for servo motors.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9" dur="indefinite" restart="never" nodeType="tmRoot">
          <p:childTnLst>
            <p:seq>
              <p:cTn id="260" dur="indefinite" nodeType="mainSeq">
                <p:childTnLst>
                  <p:par>
                    <p:cTn id="261" nodeType="clickEffect" fill="hold">
                      <p:stCondLst>
                        <p:cond delay="indefinite"/>
                      </p:stCondLst>
                      <p:childTnLst>
                        <p:par>
                          <p:cTn id="2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nodeType="clickEffect" fill="hold">
                      <p:stCondLst>
                        <p:cond delay="indefinite"/>
                      </p:stCondLst>
                      <p:childTnLst>
                        <p:par>
                          <p:cTn id="2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28520" y="477720"/>
            <a:ext cx="876060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Cont'd  Configuration example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457200" y="1295280"/>
            <a:ext cx="7606440" cy="996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12920" indent="-41292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What should MRES be set to?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2920" indent="-41292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 a simple linear stage with a leadscrew directly driven by a stepper motor.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11"/>
          <p:cNvSpPr/>
          <p:nvPr/>
        </p:nvSpPr>
        <p:spPr>
          <a:xfrm>
            <a:off x="0" y="3200400"/>
            <a:ext cx="91432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4280" bIns="-44280" anchor="ctr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1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0" name=""/>
          <p:cNvGraphicFramePr/>
          <p:nvPr/>
        </p:nvGraphicFramePr>
        <p:xfrm>
          <a:off x="601560" y="4876920"/>
          <a:ext cx="5633280" cy="98028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241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601560" y="4876920"/>
                    <a:ext cx="5633280" cy="980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42" name="Picture 16" descr="ma4006b_400"/>
          <p:cNvPicPr/>
          <p:nvPr/>
        </p:nvPicPr>
        <p:blipFill>
          <a:blip r:embed="rId3"/>
          <a:stretch/>
        </p:blipFill>
        <p:spPr>
          <a:xfrm>
            <a:off x="1600200" y="2392200"/>
            <a:ext cx="2859840" cy="2145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3" dur="indefinite" restart="never" nodeType="tmRoot">
          <p:childTnLst>
            <p:seq>
              <p:cTn id="274" dur="indefinite" nodeType="mainSeq">
                <p:childTnLst>
                  <p:par>
                    <p:cTn id="275" nodeType="clickEffect" fill="hold">
                      <p:stCondLst>
                        <p:cond delay="indefinite"/>
                      </p:stCondLst>
                      <p:childTnLst>
                        <p:par>
                          <p:cTn id="2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Cont'd  Configuration example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371520" y="1525680"/>
            <a:ext cx="8190720" cy="2496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UREV = EGU’s / 1 leadscrew rev.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SREV = motor steps / 1 motor rev. &gt; 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MRES = UREV / SREV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MRES and UREV allow negative values so that the record’s coordinate system can be configured to the opposite polarity of the motor controller's.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Never change MRES while the motor is moving.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45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6A5D59-17CA-4AFE-9996-451F0EB61B60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1" dur="indefinite" restart="never" nodeType="tmRoot">
          <p:childTnLst>
            <p:seq>
              <p:cTn id="282" dur="indefinite" nodeType="mainSeq">
                <p:childTnLst>
                  <p:par>
                    <p:cTn id="283" nodeType="clickEffect" fill="hold">
                      <p:stCondLst>
                        <p:cond delay="0"/>
                      </p:stCondLst>
                      <p:childTnLst>
                        <p:par>
                          <p:cTn id="2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nodeType="clickEffect" fill="hold">
                      <p:stCondLst>
                        <p:cond delay="indefinite"/>
                      </p:stCondLst>
                      <p:childTnLst>
                        <p:par>
                          <p:cTn id="2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nodeType="clickEffect" fill="hold">
                      <p:stCondLst>
                        <p:cond delay="indefinite"/>
                      </p:stCondLst>
                      <p:childTnLst>
                        <p:par>
                          <p:cTn id="2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nodeType="clickEffect" fill="hold">
                      <p:stCondLst>
                        <p:cond delay="indefinite"/>
                      </p:stCondLst>
                      <p:childTnLst>
                        <p:par>
                          <p:cTn id="2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128520" y="477720"/>
            <a:ext cx="876060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Cont'd  Configuration example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371520" y="1208160"/>
            <a:ext cx="6641280" cy="1847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Gear box example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Gear ratio definition; “The ratio of the powered gear of a gear train to that of the final or driven gear.”  Hence, a 3:1 gear ratio means that the motor makes 3 revolutions per 1 revolution of the lead screw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8" name="Picture 4" descr="_1xul3ak[1]"/>
          <p:cNvPicPr/>
          <p:nvPr/>
        </p:nvPicPr>
        <p:blipFill>
          <a:blip r:embed="rId1"/>
          <a:stretch/>
        </p:blipFill>
        <p:spPr>
          <a:xfrm>
            <a:off x="7327800" y="1336680"/>
            <a:ext cx="1113840" cy="866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49" name="Group 10"/>
          <p:cNvGrpSpPr/>
          <p:nvPr/>
        </p:nvGrpSpPr>
        <p:grpSpPr>
          <a:xfrm>
            <a:off x="387360" y="3046320"/>
            <a:ext cx="8268480" cy="1153440"/>
            <a:chOff x="387360" y="3046320"/>
            <a:chExt cx="8268480" cy="1153440"/>
          </a:xfrm>
        </p:grpSpPr>
        <p:graphicFrame>
          <p:nvGraphicFramePr>
            <p:cNvPr id="250" name=""/>
            <p:cNvGraphicFramePr/>
            <p:nvPr/>
          </p:nvGraphicFramePr>
          <p:xfrm>
            <a:off x="387360" y="3243240"/>
            <a:ext cx="8268480" cy="956520"/>
          </p:xfrm>
          <a:graphic>
            <a:graphicData uri="http://schemas.openxmlformats.org/presentationml/2006/ole">
              <p:oleObj progId="Equation.3" r:id="rId2" spid="">
                <p:embed/>
                <p:pic>
                  <p:nvPicPr>
                    <p:cNvPr id="251" name="" descr=""/>
                    <p:cNvPicPr/>
                    <p:nvPr/>
                  </p:nvPicPr>
                  <p:blipFill>
                    <a:blip r:embed="rId3"/>
                    <a:stretch/>
                  </p:blipFill>
                  <p:spPr>
                    <a:xfrm>
                      <a:off x="387360" y="3243240"/>
                      <a:ext cx="8268480" cy="95652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</p:pic>
              </p:oleObj>
            </a:graphicData>
          </a:graphic>
        </p:graphicFrame>
        <p:sp>
          <p:nvSpPr>
            <p:cNvPr id="252" name="Oval 8"/>
            <p:cNvSpPr/>
            <p:nvPr/>
          </p:nvSpPr>
          <p:spPr>
            <a:xfrm>
              <a:off x="3870360" y="3046320"/>
              <a:ext cx="3017160" cy="720"/>
            </a:xfrm>
            <a:prstGeom prst="ellipse">
              <a:avLst/>
            </a:prstGeom>
            <a:noFill/>
            <a:ln w="12700">
              <a:solidFill>
                <a:srgbClr val="4040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43920" bIns="-43920" anchor="ctr">
              <a:spAutoFit/>
            </a:bodyPr>
            <a:p>
              <a:pPr>
                <a:lnSpc>
                  <a:spcPct val="100000"/>
                </a:lnSpc>
                <a:spcBef>
                  <a:spcPts val="901"/>
                </a:spcBef>
              </a:pPr>
              <a:endParaRPr b="1" lang="en-US" sz="18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3" name="Rectangle 11"/>
          <p:cNvSpPr/>
          <p:nvPr/>
        </p:nvSpPr>
        <p:spPr>
          <a:xfrm>
            <a:off x="539640" y="5092560"/>
            <a:ext cx="740340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Bef>
                <a:spcPts val="181"/>
              </a:spcBef>
              <a:spcAft>
                <a:spcPts val="181"/>
              </a:spcAft>
              <a:buClr>
                <a:srgbClr val="c28500"/>
              </a:buClr>
              <a:buSzPct val="125000"/>
              <a:buFont typeface="Symbol" charset="2"/>
              <a:buChar char="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For a servo motor with a motor mounted encoder, change </a:t>
            </a:r>
            <a:r>
              <a:rPr b="1" i="1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motor steps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to </a:t>
            </a:r>
            <a:r>
              <a:rPr b="1" i="1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encoder ticks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9" dur="indefinite" restart="never" nodeType="tmRoot">
          <p:childTnLst>
            <p:seq>
              <p:cTn id="300" dur="indefinite" nodeType="mainSeq">
                <p:childTnLst>
                  <p:par>
                    <p:cTn id="301" nodeType="clickEffect" fill="hold">
                      <p:stCondLst>
                        <p:cond delay="indefinite"/>
                      </p:stCondLst>
                      <p:childTnLst>
                        <p:par>
                          <p:cTn id="30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nodeType="clickEffect" fill="hold">
                      <p:stCondLst>
                        <p:cond delay="indefinite"/>
                      </p:stCondLst>
                      <p:childTnLst>
                        <p:par>
                          <p:cTn id="3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Feedback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351000" y="1046160"/>
            <a:ext cx="8101800" cy="4841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Two ways to input position feedback to the motor record: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38080" indent="-38088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From driver support, via the motor controller.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38080" indent="-38088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Times"/>
              <a:buAutoNum type="arabicPeriod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From an EPICS PV, via a stand-alone, feedback device,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 feedback from driver support: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38080" indent="-38088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Driver level code sets the </a:t>
            </a:r>
            <a:r>
              <a:rPr b="0" i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Encoder is Present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bit (EA_PRESENT) in the Motor Status field (MSTA) to True at initialization.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38080" indent="-38088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Raw Encoder Position field (REP) has the motor controllers’ raw encoder value [ticks].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Configuring feedback from driver support: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38080" indent="-38088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Set the Encoder Resolution field (ERES) to convert encoder ticks to EGU’s.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38080" indent="-38088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Use Encoder If Present field (UEIP) determines if the REP is used [Yes/No].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46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4D13D5-57D7-4A30-A4FE-C0E35557754F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9" dur="indefinite" restart="never" nodeType="tmRoot">
          <p:childTnLst>
            <p:seq>
              <p:cTn id="310" dur="indefinite" nodeType="mainSeq">
                <p:childTnLst>
                  <p:par>
                    <p:cTn id="311" nodeType="clickEffect" fill="hold">
                      <p:stCondLst>
                        <p:cond delay="indefinite"/>
                      </p:stCondLst>
                      <p:childTnLst>
                        <p:par>
                          <p:cTn id="3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nodeType="clickEffect" fill="hold">
                      <p:stCondLst>
                        <p:cond delay="indefinite"/>
                      </p:stCondLst>
                      <p:childTnLst>
                        <p:par>
                          <p:cTn id="3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Cont'd  Feedback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698400" y="1460520"/>
            <a:ext cx="8190720" cy="4446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Configuring feedback from an EPICS PV: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Set Readback PV link (RDBL).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Set the Readback Resolution (RRES) to convert the RDBL PV units to EGU’s.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Use Readback If Present field (URIP) determines if the RDBL PV link is used [Yes/No].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Raw Motor Position (RMP) is the current commanded position read from the motor controller.  If motor record closed-loop control is off (UEIP &amp; URIP both set to </a:t>
            </a: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), then RVAL = RMP after every move.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Raw Readback Value field (RRBV) can be in units of either steps or ticks.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47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C0D9A8-C9DD-476D-892B-978F1E39BB86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7" dur="indefinite" restart="never" nodeType="tmRoot">
          <p:childTnLst>
            <p:seq>
              <p:cTn id="328" dur="indefinite" nodeType="mainSeq">
                <p:childTnLst>
                  <p:par>
                    <p:cTn id="329" nodeType="clickEffect" fill="hold">
                      <p:stCondLst>
                        <p:cond delay="0"/>
                      </p:stCondLst>
                      <p:childTnLst>
                        <p:par>
                          <p:cTn id="3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nodeType="clickEffect" fill="hold">
                      <p:stCondLst>
                        <p:cond delay="indefinite"/>
                      </p:stCondLst>
                      <p:childTnLst>
                        <p:par>
                          <p:cTn id="3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nodeType="clickEffect" fill="hold">
                      <p:stCondLst>
                        <p:cond delay="indefinite"/>
                      </p:stCondLst>
                      <p:childTnLst>
                        <p:par>
                          <p:cTn id="3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Picture 1" descr=""/>
          <p:cNvPicPr/>
          <p:nvPr/>
        </p:nvPicPr>
        <p:blipFill>
          <a:blip r:embed="rId1"/>
          <a:stretch/>
        </p:blipFill>
        <p:spPr>
          <a:xfrm>
            <a:off x="2867040" y="0"/>
            <a:ext cx="34092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Oval 15"/>
          <p:cNvSpPr/>
          <p:nvPr/>
        </p:nvSpPr>
        <p:spPr>
          <a:xfrm>
            <a:off x="1297080" y="5460840"/>
            <a:ext cx="1063080" cy="4341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RDBL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Line 18"/>
          <p:cNvSpPr/>
          <p:nvPr/>
        </p:nvSpPr>
        <p:spPr>
          <a:xfrm>
            <a:off x="2360520" y="5679720"/>
            <a:ext cx="1203120" cy="33048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" name="Oval 15"/>
          <p:cNvSpPr/>
          <p:nvPr/>
        </p:nvSpPr>
        <p:spPr>
          <a:xfrm>
            <a:off x="1176480" y="4076640"/>
            <a:ext cx="1183680" cy="4341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RRES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Oval 15"/>
          <p:cNvSpPr/>
          <p:nvPr/>
        </p:nvSpPr>
        <p:spPr>
          <a:xfrm>
            <a:off x="6486480" y="429048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URIP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Line 11"/>
          <p:cNvSpPr/>
          <p:nvPr/>
        </p:nvSpPr>
        <p:spPr>
          <a:xfrm flipH="1">
            <a:off x="4572000" y="4505040"/>
            <a:ext cx="1914480" cy="116676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" name="Line 18"/>
          <p:cNvSpPr/>
          <p:nvPr/>
        </p:nvSpPr>
        <p:spPr>
          <a:xfrm>
            <a:off x="2360520" y="4368600"/>
            <a:ext cx="1484280" cy="53172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sldNum" idx="48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A0CAD5-7921-4EFF-9B75-878C58E3607D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33520" y="20052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Feedback data flow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Oval 5"/>
          <p:cNvSpPr/>
          <p:nvPr/>
        </p:nvSpPr>
        <p:spPr>
          <a:xfrm>
            <a:off x="6244200" y="3162600"/>
            <a:ext cx="632160" cy="47664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X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12"/>
          <p:cNvSpPr/>
          <p:nvPr/>
        </p:nvSpPr>
        <p:spPr>
          <a:xfrm>
            <a:off x="8083080" y="3252960"/>
            <a:ext cx="708840" cy="318240"/>
          </a:xfrm>
          <a:prstGeom prst="rect">
            <a:avLst/>
          </a:prstGeom>
          <a:noFill/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RBV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73"/>
          <p:cNvSpPr/>
          <p:nvPr/>
        </p:nvSpPr>
        <p:spPr>
          <a:xfrm>
            <a:off x="7201800" y="4273920"/>
            <a:ext cx="683640" cy="318240"/>
          </a:xfrm>
          <a:prstGeom prst="rect">
            <a:avLst/>
          </a:prstGeom>
          <a:noFill/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OFF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74"/>
          <p:cNvSpPr/>
          <p:nvPr/>
        </p:nvSpPr>
        <p:spPr>
          <a:xfrm>
            <a:off x="6038640" y="2174040"/>
            <a:ext cx="1071000" cy="308520"/>
          </a:xfrm>
          <a:prstGeom prst="rect">
            <a:avLst/>
          </a:prstGeom>
          <a:noFill/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DIR: +/- 1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3" name="AutoShape 76"/>
          <p:cNvCxnSpPr>
            <a:stCxn id="272" idx="2"/>
            <a:endCxn id="269" idx="0"/>
          </p:cNvCxnSpPr>
          <p:nvPr/>
        </p:nvCxnSpPr>
        <p:spPr>
          <a:xfrm flipH="1">
            <a:off x="6560280" y="2482560"/>
            <a:ext cx="14040" cy="680400"/>
          </a:xfrm>
          <a:prstGeom prst="straightConnector1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</p:cxnSp>
      <p:cxnSp>
        <p:nvCxnSpPr>
          <p:cNvPr id="274" name="AutoShape 77"/>
          <p:cNvCxnSpPr/>
          <p:nvPr/>
        </p:nvCxnSpPr>
        <p:spPr>
          <a:xfrm flipV="1">
            <a:off x="7513200" y="3668040"/>
            <a:ext cx="720" cy="580320"/>
          </a:xfrm>
          <a:prstGeom prst="straightConnector1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</p:cxnSp>
      <p:cxnSp>
        <p:nvCxnSpPr>
          <p:cNvPr id="275" name="AutoShape 100"/>
          <p:cNvCxnSpPr>
            <a:stCxn id="269" idx="6"/>
            <a:endCxn id="276" idx="2"/>
          </p:cNvCxnSpPr>
          <p:nvPr/>
        </p:nvCxnSpPr>
        <p:spPr>
          <a:xfrm>
            <a:off x="6876360" y="3400920"/>
            <a:ext cx="287640" cy="12960"/>
          </a:xfrm>
          <a:prstGeom prst="straightConnector1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</p:cxnSp>
      <p:sp>
        <p:nvSpPr>
          <p:cNvPr id="277" name="Rectangle 7"/>
          <p:cNvSpPr/>
          <p:nvPr/>
        </p:nvSpPr>
        <p:spPr>
          <a:xfrm>
            <a:off x="159480" y="3254040"/>
            <a:ext cx="650160" cy="349920"/>
          </a:xfrm>
          <a:prstGeom prst="rect">
            <a:avLst/>
          </a:prstGeom>
          <a:noFill/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8"/>
          <p:cNvSpPr/>
          <p:nvPr/>
        </p:nvSpPr>
        <p:spPr>
          <a:xfrm>
            <a:off x="159480" y="2002320"/>
            <a:ext cx="650160" cy="349920"/>
          </a:xfrm>
          <a:prstGeom prst="rect">
            <a:avLst/>
          </a:prstGeom>
          <a:noFill/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RMP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Oval 10"/>
          <p:cNvSpPr/>
          <p:nvPr/>
        </p:nvSpPr>
        <p:spPr>
          <a:xfrm>
            <a:off x="4005720" y="3158640"/>
            <a:ext cx="494640" cy="45144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X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11"/>
          <p:cNvSpPr/>
          <p:nvPr/>
        </p:nvSpPr>
        <p:spPr>
          <a:xfrm>
            <a:off x="2797200" y="3249720"/>
            <a:ext cx="826200" cy="349920"/>
          </a:xfrm>
          <a:prstGeom prst="rect">
            <a:avLst/>
          </a:prstGeom>
          <a:noFill/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RRBV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Oval 40"/>
          <p:cNvSpPr/>
          <p:nvPr/>
        </p:nvSpPr>
        <p:spPr>
          <a:xfrm>
            <a:off x="2190600" y="3336120"/>
            <a:ext cx="142200" cy="142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1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82" name="AutoShape 48"/>
          <p:cNvCxnSpPr>
            <a:endCxn id="281" idx="2"/>
          </p:cNvCxnSpPr>
          <p:nvPr/>
        </p:nvCxnSpPr>
        <p:spPr>
          <a:xfrm flipV="1">
            <a:off x="811080" y="3407400"/>
            <a:ext cx="1379880" cy="10440"/>
          </a:xfrm>
          <a:prstGeom prst="straightConnector1">
            <a:avLst/>
          </a:prstGeom>
          <a:ln w="12700">
            <a:solidFill>
              <a:srgbClr val="404040"/>
            </a:solidFill>
            <a:prstDash val="dash"/>
            <a:round/>
            <a:tailEnd len="med" type="triangle" w="med"/>
          </a:ln>
        </p:spPr>
      </p:cxnSp>
      <p:cxnSp>
        <p:nvCxnSpPr>
          <p:cNvPr id="283" name="AutoShape 49"/>
          <p:cNvCxnSpPr>
            <a:stCxn id="280" idx="1"/>
            <a:endCxn id="281" idx="6"/>
          </p:cNvCxnSpPr>
          <p:nvPr/>
        </p:nvCxnSpPr>
        <p:spPr>
          <a:xfrm flipH="1" flipV="1">
            <a:off x="2332800" y="3407400"/>
            <a:ext cx="464760" cy="17640"/>
          </a:xfrm>
          <a:prstGeom prst="straightConnector1">
            <a:avLst/>
          </a:prstGeom>
          <a:ln w="12700">
            <a:solidFill>
              <a:srgbClr val="404040"/>
            </a:solidFill>
            <a:round/>
            <a:headEnd len="med" type="triangle" w="med"/>
          </a:ln>
        </p:spPr>
      </p:cxnSp>
      <p:sp>
        <p:nvSpPr>
          <p:cNvPr id="284" name="Rectangle 51"/>
          <p:cNvSpPr/>
          <p:nvPr/>
        </p:nvSpPr>
        <p:spPr>
          <a:xfrm>
            <a:off x="4321080" y="1449360"/>
            <a:ext cx="891360" cy="349920"/>
          </a:xfrm>
          <a:prstGeom prst="rect">
            <a:avLst/>
          </a:prstGeom>
          <a:noFill/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ERES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5" name="AutoShape 52"/>
          <p:cNvCxnSpPr>
            <a:stCxn id="280" idx="3"/>
            <a:endCxn id="279" idx="2"/>
          </p:cNvCxnSpPr>
          <p:nvPr/>
        </p:nvCxnSpPr>
        <p:spPr>
          <a:xfrm flipV="1">
            <a:off x="3623400" y="3384360"/>
            <a:ext cx="382680" cy="40680"/>
          </a:xfrm>
          <a:prstGeom prst="straightConnector1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</p:cxnSp>
      <p:sp>
        <p:nvSpPr>
          <p:cNvPr id="286" name="Rectangle 6"/>
          <p:cNvSpPr/>
          <p:nvPr/>
        </p:nvSpPr>
        <p:spPr>
          <a:xfrm>
            <a:off x="154440" y="5214960"/>
            <a:ext cx="850680" cy="607320"/>
          </a:xfrm>
          <a:prstGeom prst="rect">
            <a:avLst/>
          </a:prstGeom>
          <a:noFill/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RDBL Link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Oval 57"/>
          <p:cNvSpPr/>
          <p:nvPr/>
        </p:nvSpPr>
        <p:spPr>
          <a:xfrm>
            <a:off x="1413360" y="5241240"/>
            <a:ext cx="486720" cy="45144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X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58"/>
          <p:cNvSpPr/>
          <p:nvPr/>
        </p:nvSpPr>
        <p:spPr>
          <a:xfrm>
            <a:off x="2309400" y="4630680"/>
            <a:ext cx="820080" cy="339120"/>
          </a:xfrm>
          <a:prstGeom prst="rect">
            <a:avLst/>
          </a:prstGeom>
          <a:noFill/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MRES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9" name="AutoShape 59"/>
          <p:cNvCxnSpPr>
            <a:stCxn id="286" idx="3"/>
            <a:endCxn id="287" idx="2"/>
          </p:cNvCxnSpPr>
          <p:nvPr/>
        </p:nvCxnSpPr>
        <p:spPr>
          <a:xfrm flipV="1">
            <a:off x="1005120" y="5466960"/>
            <a:ext cx="408600" cy="51840"/>
          </a:xfrm>
          <a:prstGeom prst="straightConnector1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</p:cxnSp>
      <p:cxnSp>
        <p:nvCxnSpPr>
          <p:cNvPr id="290" name="AutoShape 61"/>
          <p:cNvCxnSpPr>
            <a:endCxn id="287" idx="4"/>
          </p:cNvCxnSpPr>
          <p:nvPr/>
        </p:nvCxnSpPr>
        <p:spPr>
          <a:xfrm flipH="1" flipV="1">
            <a:off x="1656720" y="5692680"/>
            <a:ext cx="720" cy="207360"/>
          </a:xfrm>
          <a:prstGeom prst="straightConnector1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</p:cxnSp>
      <p:sp>
        <p:nvSpPr>
          <p:cNvPr id="291" name="Rectangle 72"/>
          <p:cNvSpPr/>
          <p:nvPr/>
        </p:nvSpPr>
        <p:spPr>
          <a:xfrm>
            <a:off x="5133600" y="3238560"/>
            <a:ext cx="774000" cy="349920"/>
          </a:xfrm>
          <a:prstGeom prst="rect">
            <a:avLst/>
          </a:prstGeom>
          <a:noFill/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DRBV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ectangle 86"/>
          <p:cNvSpPr/>
          <p:nvPr/>
        </p:nvSpPr>
        <p:spPr>
          <a:xfrm>
            <a:off x="3378240" y="1463760"/>
            <a:ext cx="793080" cy="349920"/>
          </a:xfrm>
          <a:prstGeom prst="rect">
            <a:avLst/>
          </a:prstGeom>
          <a:noFill/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MRES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Oval 90"/>
          <p:cNvSpPr/>
          <p:nvPr/>
        </p:nvSpPr>
        <p:spPr>
          <a:xfrm>
            <a:off x="4176720" y="2698920"/>
            <a:ext cx="172440" cy="19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1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94" name="AutoShape 91"/>
          <p:cNvCxnSpPr>
            <a:stCxn id="279" idx="0"/>
            <a:endCxn id="293" idx="4"/>
          </p:cNvCxnSpPr>
          <p:nvPr/>
        </p:nvCxnSpPr>
        <p:spPr>
          <a:xfrm flipV="1">
            <a:off x="4253040" y="2893320"/>
            <a:ext cx="10440" cy="265680"/>
          </a:xfrm>
          <a:prstGeom prst="straightConnector1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</p:cxnSp>
      <p:cxnSp>
        <p:nvCxnSpPr>
          <p:cNvPr id="295" name="AutoShape 99"/>
          <p:cNvCxnSpPr>
            <a:stCxn id="296" idx="4"/>
            <a:endCxn id="293" idx="7"/>
          </p:cNvCxnSpPr>
          <p:nvPr/>
        </p:nvCxnSpPr>
        <p:spPr>
          <a:xfrm flipH="1">
            <a:off x="4323960" y="2139840"/>
            <a:ext cx="443520" cy="587880"/>
          </a:xfrm>
          <a:prstGeom prst="straightConnector1">
            <a:avLst/>
          </a:prstGeom>
          <a:ln w="12700">
            <a:solidFill>
              <a:srgbClr val="404040"/>
            </a:solidFill>
            <a:prstDash val="dash"/>
            <a:round/>
            <a:tailEnd len="med" type="triangle" w="med"/>
          </a:ln>
        </p:spPr>
      </p:cxnSp>
      <p:sp>
        <p:nvSpPr>
          <p:cNvPr id="297" name="Oval 134"/>
          <p:cNvSpPr/>
          <p:nvPr/>
        </p:nvSpPr>
        <p:spPr>
          <a:xfrm>
            <a:off x="3691080" y="2017800"/>
            <a:ext cx="167400" cy="129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1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6" name="Oval 136"/>
          <p:cNvSpPr/>
          <p:nvPr/>
        </p:nvSpPr>
        <p:spPr>
          <a:xfrm>
            <a:off x="4695840" y="1997640"/>
            <a:ext cx="142200" cy="142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1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98" name="AutoShape 140"/>
          <p:cNvCxnSpPr>
            <a:stCxn id="278" idx="3"/>
            <a:endCxn id="281" idx="0"/>
          </p:cNvCxnSpPr>
          <p:nvPr/>
        </p:nvCxnSpPr>
        <p:spPr>
          <a:xfrm>
            <a:off x="809640" y="2177280"/>
            <a:ext cx="1452600" cy="1159200"/>
          </a:xfrm>
          <a:prstGeom prst="straightConnector1">
            <a:avLst/>
          </a:prstGeom>
          <a:ln w="12700">
            <a:solidFill>
              <a:srgbClr val="404040"/>
            </a:solidFill>
            <a:prstDash val="dash"/>
            <a:round/>
            <a:tailEnd len="med" type="triangle" w="med"/>
          </a:ln>
        </p:spPr>
      </p:cxnSp>
      <p:cxnSp>
        <p:nvCxnSpPr>
          <p:cNvPr id="299" name="AutoShape 141"/>
          <p:cNvCxnSpPr>
            <a:stCxn id="292" idx="2"/>
            <a:endCxn id="297" idx="0"/>
          </p:cNvCxnSpPr>
          <p:nvPr/>
        </p:nvCxnSpPr>
        <p:spPr>
          <a:xfrm>
            <a:off x="3774600" y="1813680"/>
            <a:ext cx="720" cy="204480"/>
          </a:xfrm>
          <a:prstGeom prst="straightConnector1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</p:cxnSp>
      <p:cxnSp>
        <p:nvCxnSpPr>
          <p:cNvPr id="300" name="AutoShape 142"/>
          <p:cNvCxnSpPr>
            <a:stCxn id="284" idx="2"/>
            <a:endCxn id="296" idx="0"/>
          </p:cNvCxnSpPr>
          <p:nvPr/>
        </p:nvCxnSpPr>
        <p:spPr>
          <a:xfrm>
            <a:off x="4766760" y="1799280"/>
            <a:ext cx="720" cy="198720"/>
          </a:xfrm>
          <a:prstGeom prst="straightConnector1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</p:cxnSp>
      <p:cxnSp>
        <p:nvCxnSpPr>
          <p:cNvPr id="301" name="AutoShape 143"/>
          <p:cNvCxnSpPr>
            <a:stCxn id="279" idx="6"/>
            <a:endCxn id="291" idx="1"/>
          </p:cNvCxnSpPr>
          <p:nvPr/>
        </p:nvCxnSpPr>
        <p:spPr>
          <a:xfrm>
            <a:off x="4500360" y="3384360"/>
            <a:ext cx="633600" cy="29520"/>
          </a:xfrm>
          <a:prstGeom prst="straightConnector1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</p:cxnSp>
      <p:cxnSp>
        <p:nvCxnSpPr>
          <p:cNvPr id="302" name="AutoShape 146"/>
          <p:cNvCxnSpPr>
            <a:stCxn id="291" idx="3"/>
            <a:endCxn id="269" idx="2"/>
          </p:cNvCxnSpPr>
          <p:nvPr/>
        </p:nvCxnSpPr>
        <p:spPr>
          <a:xfrm flipV="1">
            <a:off x="5907600" y="3400920"/>
            <a:ext cx="336960" cy="12960"/>
          </a:xfrm>
          <a:prstGeom prst="straightConnector1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</p:cxnSp>
      <p:sp>
        <p:nvSpPr>
          <p:cNvPr id="303" name="PlaceHolder 2"/>
          <p:cNvSpPr>
            <a:spLocks noGrp="1"/>
          </p:cNvSpPr>
          <p:nvPr>
            <p:ph type="sldNum" idx="49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07B773-F17B-45FB-8F5C-6E2F2939942F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04" name="AutoShape 48"/>
          <p:cNvCxnSpPr>
            <a:stCxn id="305" idx="0"/>
            <a:endCxn id="281" idx="3"/>
          </p:cNvCxnSpPr>
          <p:nvPr/>
        </p:nvCxnSpPr>
        <p:spPr>
          <a:xfrm flipV="1">
            <a:off x="1656720" y="3457800"/>
            <a:ext cx="554760" cy="1095840"/>
          </a:xfrm>
          <a:prstGeom prst="straightConnector1">
            <a:avLst/>
          </a:prstGeom>
          <a:ln w="12700">
            <a:solidFill>
              <a:srgbClr val="404040"/>
            </a:solidFill>
            <a:prstDash val="dash"/>
            <a:round/>
            <a:tailEnd len="med" type="triangle" w="med"/>
          </a:ln>
        </p:spPr>
      </p:cxnSp>
      <p:sp>
        <p:nvSpPr>
          <p:cNvPr id="306" name="Rectangle 23"/>
          <p:cNvSpPr/>
          <p:nvPr/>
        </p:nvSpPr>
        <p:spPr>
          <a:xfrm>
            <a:off x="1039320" y="3151080"/>
            <a:ext cx="8478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404040"/>
                </a:solidFill>
                <a:effectLst/>
                <a:uFillTx/>
                <a:latin typeface="Calibri"/>
              </a:rPr>
              <a:t>UEIP = Yes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24"/>
          <p:cNvSpPr/>
          <p:nvPr/>
        </p:nvSpPr>
        <p:spPr>
          <a:xfrm rot="2329200">
            <a:off x="1008360" y="2431080"/>
            <a:ext cx="12535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UEIP = URIP = No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99"/>
          <p:cNvSpPr/>
          <p:nvPr/>
        </p:nvSpPr>
        <p:spPr>
          <a:xfrm rot="17669400">
            <a:off x="1346760" y="3833280"/>
            <a:ext cx="856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404040"/>
                </a:solidFill>
                <a:effectLst/>
                <a:uFillTx/>
                <a:latin typeface="Calibri"/>
              </a:rPr>
              <a:t>URIP = Yes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9" name="AutoShape 99"/>
          <p:cNvCxnSpPr>
            <a:stCxn id="297" idx="4"/>
            <a:endCxn id="293" idx="1"/>
          </p:cNvCxnSpPr>
          <p:nvPr/>
        </p:nvCxnSpPr>
        <p:spPr>
          <a:xfrm>
            <a:off x="3774960" y="2147400"/>
            <a:ext cx="427320" cy="580320"/>
          </a:xfrm>
          <a:prstGeom prst="straightConnector1">
            <a:avLst/>
          </a:prstGeom>
          <a:ln w="12700">
            <a:solidFill>
              <a:srgbClr val="404040"/>
            </a:solidFill>
            <a:prstDash val="dash"/>
            <a:round/>
            <a:tailEnd len="med" type="triangle" w="med"/>
          </a:ln>
        </p:spPr>
      </p:cxnSp>
      <p:sp>
        <p:nvSpPr>
          <p:cNvPr id="310" name="Rectangle 94"/>
          <p:cNvSpPr/>
          <p:nvPr/>
        </p:nvSpPr>
        <p:spPr>
          <a:xfrm>
            <a:off x="4545720" y="2338920"/>
            <a:ext cx="8478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404040"/>
                </a:solidFill>
                <a:effectLst/>
                <a:uFillTx/>
                <a:latin typeface="Calibri"/>
              </a:rPr>
              <a:t>UEIP = Yes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95"/>
          <p:cNvSpPr/>
          <p:nvPr/>
        </p:nvSpPr>
        <p:spPr>
          <a:xfrm>
            <a:off x="2326680" y="2268000"/>
            <a:ext cx="1527120" cy="4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404040"/>
                </a:solidFill>
                <a:effectLst/>
                <a:uFillTx/>
                <a:latin typeface="Calibri"/>
              </a:rPr>
              <a:t>UEIP = URIP = No, OR,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404040"/>
                </a:solidFill>
                <a:effectLst/>
                <a:uFillTx/>
                <a:latin typeface="Calibri"/>
              </a:rPr>
              <a:t>URIP = Yes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Oval 5"/>
          <p:cNvSpPr/>
          <p:nvPr/>
        </p:nvSpPr>
        <p:spPr>
          <a:xfrm>
            <a:off x="7163640" y="3153240"/>
            <a:ext cx="632160" cy="52020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901"/>
              </a:spcBef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+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2" name="AutoShape 100"/>
          <p:cNvCxnSpPr>
            <a:stCxn id="276" idx="6"/>
          </p:cNvCxnSpPr>
          <p:nvPr/>
        </p:nvCxnSpPr>
        <p:spPr>
          <a:xfrm flipV="1">
            <a:off x="7795800" y="3412440"/>
            <a:ext cx="303480" cy="1440"/>
          </a:xfrm>
          <a:prstGeom prst="straightConnector1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</p:cxnSp>
      <p:sp>
        <p:nvSpPr>
          <p:cNvPr id="313" name="Rectangle 58"/>
          <p:cNvSpPr/>
          <p:nvPr/>
        </p:nvSpPr>
        <p:spPr>
          <a:xfrm>
            <a:off x="1225800" y="5904360"/>
            <a:ext cx="820080" cy="339120"/>
          </a:xfrm>
          <a:prstGeom prst="rect">
            <a:avLst/>
          </a:prstGeom>
          <a:noFill/>
          <a:ln w="1270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RRES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Oval 57"/>
          <p:cNvSpPr/>
          <p:nvPr/>
        </p:nvSpPr>
        <p:spPr>
          <a:xfrm>
            <a:off x="1413360" y="4553280"/>
            <a:ext cx="486720" cy="47664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÷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4" name="AutoShape 61"/>
          <p:cNvCxnSpPr>
            <a:endCxn id="305" idx="4"/>
          </p:cNvCxnSpPr>
          <p:nvPr/>
        </p:nvCxnSpPr>
        <p:spPr>
          <a:xfrm flipH="1" flipV="1">
            <a:off x="1656720" y="5029920"/>
            <a:ext cx="720" cy="234000"/>
          </a:xfrm>
          <a:prstGeom prst="straightConnector1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</p:cxnSp>
      <p:cxnSp>
        <p:nvCxnSpPr>
          <p:cNvPr id="315" name="AutoShape 59"/>
          <p:cNvCxnSpPr>
            <a:stCxn id="288" idx="1"/>
            <a:endCxn id="305" idx="6"/>
          </p:cNvCxnSpPr>
          <p:nvPr/>
        </p:nvCxnSpPr>
        <p:spPr>
          <a:xfrm flipH="1" flipV="1">
            <a:off x="1900080" y="4791600"/>
            <a:ext cx="409680" cy="9000"/>
          </a:xfrm>
          <a:prstGeom prst="straightConnector1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5" descr=""/>
          <p:cNvPicPr/>
          <p:nvPr/>
        </p:nvPicPr>
        <p:blipFill>
          <a:blip r:embed="rId1"/>
          <a:stretch/>
        </p:blipFill>
        <p:spPr>
          <a:xfrm>
            <a:off x="2416320" y="0"/>
            <a:ext cx="418392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Oval 6"/>
          <p:cNvSpPr/>
          <p:nvPr/>
        </p:nvSpPr>
        <p:spPr>
          <a:xfrm>
            <a:off x="7078680" y="5172840"/>
            <a:ext cx="11437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Oval 7"/>
          <p:cNvSpPr/>
          <p:nvPr/>
        </p:nvSpPr>
        <p:spPr>
          <a:xfrm>
            <a:off x="7081920" y="4520520"/>
            <a:ext cx="90900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RMP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Oval 8"/>
          <p:cNvSpPr/>
          <p:nvPr/>
        </p:nvSpPr>
        <p:spPr>
          <a:xfrm>
            <a:off x="7224840" y="336240"/>
            <a:ext cx="997920" cy="4071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RRBV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Line 11"/>
          <p:cNvSpPr/>
          <p:nvPr/>
        </p:nvSpPr>
        <p:spPr>
          <a:xfrm flipH="1">
            <a:off x="5770440" y="555480"/>
            <a:ext cx="1407960" cy="34596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1" name="Line 12"/>
          <p:cNvSpPr/>
          <p:nvPr/>
        </p:nvSpPr>
        <p:spPr>
          <a:xfrm flipH="1">
            <a:off x="5786280" y="4779720"/>
            <a:ext cx="1300320" cy="36036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2" name="Line 13"/>
          <p:cNvSpPr/>
          <p:nvPr/>
        </p:nvSpPr>
        <p:spPr>
          <a:xfrm flipH="1" flipV="1">
            <a:off x="5751360" y="5329080"/>
            <a:ext cx="1335240" cy="7308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3" name="Oval 15"/>
          <p:cNvSpPr/>
          <p:nvPr/>
        </p:nvSpPr>
        <p:spPr>
          <a:xfrm>
            <a:off x="1020600" y="368712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RRES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Oval 16"/>
          <p:cNvSpPr/>
          <p:nvPr/>
        </p:nvSpPr>
        <p:spPr>
          <a:xfrm>
            <a:off x="693720" y="5720760"/>
            <a:ext cx="1024920" cy="4071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RDBL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Line 17"/>
          <p:cNvSpPr/>
          <p:nvPr/>
        </p:nvSpPr>
        <p:spPr>
          <a:xfrm>
            <a:off x="1714320" y="5956200"/>
            <a:ext cx="1498680" cy="20304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6" name="Line 18"/>
          <p:cNvSpPr/>
          <p:nvPr/>
        </p:nvSpPr>
        <p:spPr>
          <a:xfrm>
            <a:off x="2006280" y="3924000"/>
            <a:ext cx="1676520" cy="97812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7" name="Oval 19"/>
          <p:cNvSpPr/>
          <p:nvPr/>
        </p:nvSpPr>
        <p:spPr>
          <a:xfrm>
            <a:off x="7161120" y="3579120"/>
            <a:ext cx="97704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STUP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Line 20"/>
          <p:cNvSpPr/>
          <p:nvPr/>
        </p:nvSpPr>
        <p:spPr>
          <a:xfrm flipH="1">
            <a:off x="5499000" y="3789360"/>
            <a:ext cx="1658880" cy="46980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9" name="Oval 21"/>
          <p:cNvSpPr/>
          <p:nvPr/>
        </p:nvSpPr>
        <p:spPr>
          <a:xfrm>
            <a:off x="7288200" y="1110960"/>
            <a:ext cx="997920" cy="4071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RVAL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Line 22"/>
          <p:cNvSpPr/>
          <p:nvPr/>
        </p:nvSpPr>
        <p:spPr>
          <a:xfrm flipH="1" flipV="1">
            <a:off x="6476760" y="1206360"/>
            <a:ext cx="762120" cy="11412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1" name="Oval 23"/>
          <p:cNvSpPr/>
          <p:nvPr/>
        </p:nvSpPr>
        <p:spPr>
          <a:xfrm>
            <a:off x="874800" y="4470120"/>
            <a:ext cx="928080" cy="4071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UEIP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Oval 24"/>
          <p:cNvSpPr/>
          <p:nvPr/>
        </p:nvSpPr>
        <p:spPr>
          <a:xfrm>
            <a:off x="849240" y="5092200"/>
            <a:ext cx="928080" cy="4071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URIP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Line 26"/>
          <p:cNvSpPr/>
          <p:nvPr/>
        </p:nvSpPr>
        <p:spPr>
          <a:xfrm>
            <a:off x="1803240" y="4686120"/>
            <a:ext cx="2209680" cy="83808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4" name="Line 27"/>
          <p:cNvSpPr/>
          <p:nvPr/>
        </p:nvSpPr>
        <p:spPr>
          <a:xfrm>
            <a:off x="1739880" y="5308560"/>
            <a:ext cx="2234880" cy="43164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sldNum" idx="50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61D14F-874C-4DBA-8F6A-B6419D3DBA31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Retries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/>
          </p:nvPr>
        </p:nvSpPr>
        <p:spPr>
          <a:xfrm>
            <a:off x="306360" y="1150920"/>
            <a:ext cx="8403480" cy="4647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What it isn’t.  Retries are not continuous, dynamic loop closure.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What it is.  Retries try to eliminate dial position error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(DIFF)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by making, consecutive, </a:t>
            </a:r>
            <a:r>
              <a:rPr b="0" lang="en-US" sz="18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relative moves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based on the DIFF field.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DIFF = DVAL – DRBV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If [RTRY !=0, AND, ((EA_PRESENT = True, AND, UEIP == Yes), OR, URIP == Yes)] is True, then all motor record moves are relative moves.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Configuring retries: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Usually set UEIP == No for a servo motor.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Set Retry Deadband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(RDBD)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; retry if (DIFF &gt; RDBD).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Set Max Retry Count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(RTRY)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- maximum number of retries.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Current Retry Count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(RCNT)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cleared at the start of every move.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51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762119-6816-4196-8458-6BBEAB5A0568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5" dur="indefinite" restart="never" nodeType="tmRoot">
          <p:childTnLst>
            <p:seq>
              <p:cTn id="346" dur="indefinite" nodeType="mainSeq">
                <p:childTnLst>
                  <p:par>
                    <p:cTn id="347" nodeType="clickEffect" fill="hold">
                      <p:stCondLst>
                        <p:cond delay="indefinite"/>
                      </p:stCondLst>
                      <p:childTnLst>
                        <p:par>
                          <p:cTn id="3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nodeType="clickEffect" fill="hold">
                      <p:stCondLst>
                        <p:cond delay="indefinite"/>
                      </p:stCondLst>
                      <p:childTnLst>
                        <p:par>
                          <p:cTn id="3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nodeType="clickEffect" fill="hold">
                      <p:stCondLst>
                        <p:cond delay="indefinite"/>
                      </p:stCondLst>
                      <p:childTnLst>
                        <p:par>
                          <p:cTn id="3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nodeType="clickEffect" fill="hold">
                      <p:stCondLst>
                        <p:cond delay="indefinite"/>
                      </p:stCondLst>
                      <p:childTnLst>
                        <p:par>
                          <p:cTn id="3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nodeType="clickEffect" fill="hold">
                      <p:stCondLst>
                        <p:cond delay="indefinite"/>
                      </p:stCondLst>
                      <p:childTnLst>
                        <p:par>
                          <p:cTn id="3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nodeType="clickEffect" fill="hold">
                      <p:stCondLst>
                        <p:cond delay="indefinite"/>
                      </p:stCondLst>
                      <p:childTnLst>
                        <p:par>
                          <p:cTn id="3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nodeType="clickEffect" fill="hold">
                      <p:stCondLst>
                        <p:cond delay="indefinite"/>
                      </p:stCondLst>
                      <p:childTnLst>
                        <p:par>
                          <p:cTn id="3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nodeType="clickEffect" fill="hold">
                      <p:stCondLst>
                        <p:cond delay="indefinite"/>
                      </p:stCondLst>
                      <p:childTnLst>
                        <p:par>
                          <p:cTn id="3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Picture 5" descr=""/>
          <p:cNvPicPr/>
          <p:nvPr/>
        </p:nvPicPr>
        <p:blipFill>
          <a:blip r:embed="rId1"/>
          <a:stretch/>
        </p:blipFill>
        <p:spPr>
          <a:xfrm>
            <a:off x="2465280" y="-11160"/>
            <a:ext cx="418392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Oval 6"/>
          <p:cNvSpPr/>
          <p:nvPr/>
        </p:nvSpPr>
        <p:spPr>
          <a:xfrm>
            <a:off x="7078680" y="5172840"/>
            <a:ext cx="11437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DIFF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Line 13"/>
          <p:cNvSpPr/>
          <p:nvPr/>
        </p:nvSpPr>
        <p:spPr>
          <a:xfrm flipH="1">
            <a:off x="6198840" y="5402160"/>
            <a:ext cx="811440" cy="17136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2" name="Oval 15"/>
          <p:cNvSpPr/>
          <p:nvPr/>
        </p:nvSpPr>
        <p:spPr>
          <a:xfrm>
            <a:off x="1020600" y="368712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RDBD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Oval 16"/>
          <p:cNvSpPr/>
          <p:nvPr/>
        </p:nvSpPr>
        <p:spPr>
          <a:xfrm>
            <a:off x="693720" y="5733360"/>
            <a:ext cx="10249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RTRY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Line 17"/>
          <p:cNvSpPr/>
          <p:nvPr/>
        </p:nvSpPr>
        <p:spPr>
          <a:xfrm flipV="1">
            <a:off x="1714320" y="5402160"/>
            <a:ext cx="2298600" cy="55404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5" name="Line 18"/>
          <p:cNvSpPr/>
          <p:nvPr/>
        </p:nvSpPr>
        <p:spPr>
          <a:xfrm>
            <a:off x="2006280" y="3924000"/>
            <a:ext cx="1687680" cy="114804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6" name="Oval 23"/>
          <p:cNvSpPr/>
          <p:nvPr/>
        </p:nvSpPr>
        <p:spPr>
          <a:xfrm>
            <a:off x="758880" y="4711680"/>
            <a:ext cx="1044000" cy="4341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RCNT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Line 26"/>
          <p:cNvSpPr/>
          <p:nvPr/>
        </p:nvSpPr>
        <p:spPr>
          <a:xfrm>
            <a:off x="1768320" y="4917960"/>
            <a:ext cx="1303200" cy="39348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8" name="PlaceHolder 1"/>
          <p:cNvSpPr>
            <a:spLocks noGrp="1"/>
          </p:cNvSpPr>
          <p:nvPr>
            <p:ph type="sldNum" idx="52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33ECB9-8797-4C85-AA0E-158CE3B9ADA0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Backlash Correction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468360" y="1731960"/>
            <a:ext cx="8190720" cy="3896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Backlash - lost motion due to mechanical imperfections.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Backlash configuration: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Backlash distance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(BDST)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determines the magnitude and direction of the backlash move.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backlash has its’ own velocity (BVEL) and acceleration (BACC) parameters.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Backlash correction algorithm: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Preferred direction - the sign of BDST.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Slew parameters - slew velocity (VELO) and acceleration (ACCL).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Backlash parameters - BVEL and BACC.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1" name="Picture 4" descr="twogears"/>
          <p:cNvPicPr/>
          <p:nvPr/>
        </p:nvPicPr>
        <p:blipFill>
          <a:blip r:embed="rId1"/>
          <a:stretch/>
        </p:blipFill>
        <p:spPr>
          <a:xfrm>
            <a:off x="5032440" y="209520"/>
            <a:ext cx="1332720" cy="142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PlaceHolder 3"/>
          <p:cNvSpPr>
            <a:spLocks noGrp="1"/>
          </p:cNvSpPr>
          <p:nvPr>
            <p:ph type="sldNum" idx="53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2744D7-C81A-405D-B8B7-1EF0199A21E0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9" dur="indefinite" restart="never" nodeType="tmRoot">
          <p:childTnLst>
            <p:seq>
              <p:cTn id="380" dur="indefinite" nodeType="mainSeq">
                <p:childTnLst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Backlash Correction Logic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474840" y="1181160"/>
            <a:ext cx="8190720" cy="4811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Given a move to a position called Target: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IF backlash is disabled (0 = |BDST| &lt; |MRES|), OR, (move is in the preferred direction, AND, backlash parameters == slew parameters).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THEN, skip backlash, move to Target using slew parameters.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ELSE IF the incremental distance &gt; |BDST|, OR, the move is Not in the preferred direction.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THEN, move to position (Target - BDST) using slew parameters, then move to Target using backlash parameters.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ELSE IF the incremental distance &lt;= |BDST|, AND, the move is in the preferred direction.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THEN, backlash is assumed to have been taken out; move to Target using backlash parameters.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ENDIF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54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ED1881-89B8-411E-877D-EC87B0D0A04F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Picture 1" descr=""/>
          <p:cNvPicPr/>
          <p:nvPr/>
        </p:nvPicPr>
        <p:blipFill>
          <a:blip r:embed="rId1"/>
          <a:stretch/>
        </p:blipFill>
        <p:spPr>
          <a:xfrm>
            <a:off x="2867040" y="0"/>
            <a:ext cx="34092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Oval 15"/>
          <p:cNvSpPr/>
          <p:nvPr/>
        </p:nvSpPr>
        <p:spPr>
          <a:xfrm>
            <a:off x="1204920" y="297576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BACC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Oval 15"/>
          <p:cNvSpPr/>
          <p:nvPr/>
        </p:nvSpPr>
        <p:spPr>
          <a:xfrm>
            <a:off x="1235160" y="362844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BDST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Line 18"/>
          <p:cNvSpPr/>
          <p:nvPr/>
        </p:nvSpPr>
        <p:spPr>
          <a:xfrm flipV="1">
            <a:off x="2260440" y="3527280"/>
            <a:ext cx="2171520" cy="30312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0" name="Line 18"/>
          <p:cNvSpPr/>
          <p:nvPr/>
        </p:nvSpPr>
        <p:spPr>
          <a:xfrm>
            <a:off x="2260440" y="2571480"/>
            <a:ext cx="2171520" cy="35244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1" name="Line 18"/>
          <p:cNvSpPr/>
          <p:nvPr/>
        </p:nvSpPr>
        <p:spPr>
          <a:xfrm>
            <a:off x="2211120" y="3171600"/>
            <a:ext cx="2220840" cy="147600"/>
          </a:xfrm>
          <a:prstGeom prst="line">
            <a:avLst/>
          </a:prstGeom>
          <a:ln w="12700">
            <a:solidFill>
              <a:srgbClr val="40404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2" name="Oval 15"/>
          <p:cNvSpPr/>
          <p:nvPr/>
        </p:nvSpPr>
        <p:spPr>
          <a:xfrm>
            <a:off x="1235160" y="2318760"/>
            <a:ext cx="1010520" cy="43236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Oval 16"/>
          <p:cNvSpPr/>
          <p:nvPr/>
        </p:nvSpPr>
        <p:spPr>
          <a:xfrm>
            <a:off x="1249200" y="2316240"/>
            <a:ext cx="1010520" cy="430920"/>
          </a:xfrm>
          <a:prstGeom prst="ellipse">
            <a:avLst/>
          </a:prstGeom>
          <a:noFill/>
          <a:ln w="127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00"/>
              </a:spcBef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1"/>
          <p:cNvSpPr>
            <a:spLocks noGrp="1"/>
          </p:cNvSpPr>
          <p:nvPr>
            <p:ph type="sldNum" idx="55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7EEB54-0C0A-4A0D-B1FD-0DF7A6954024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Motor module distribution and build customization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690480" y="1168560"/>
            <a:ext cx="8190720" cy="5022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Motor module web page.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6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https://github.com/epics-modules/motor/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404040"/>
                </a:solidFill>
                <a:effectLst/>
                <a:uFillTx/>
                <a:latin typeface="Calibri"/>
              </a:rPr>
              <a:t>Motor module build customization.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600" strike="noStrike" u="none">
                <a:solidFill>
                  <a:srgbClr val="404040"/>
                </a:solidFill>
                <a:effectLst/>
                <a:uFillTx/>
                <a:latin typeface="Calibri"/>
              </a:rPr>
              <a:t>To build examples; uncomment  three lines in &lt;motor&gt;/Makefile that begin with “#!”.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600" strike="noStrike" u="none">
                <a:solidFill>
                  <a:srgbClr val="404040"/>
                </a:solidFill>
                <a:effectLst/>
                <a:uFillTx/>
                <a:latin typeface="Calibri"/>
              </a:rPr>
              <a:t>&lt;motor&gt;/configure/RELEASE: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trike="noStrike" u="none">
                <a:solidFill>
                  <a:srgbClr val="404040"/>
                </a:solidFill>
                <a:effectLst/>
                <a:uFillTx/>
                <a:latin typeface="Calibri"/>
              </a:rPr>
              <a:t>If only EPICS_BASE is defined, only OMS and Soft Channel model #1 device/drivers are built.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281"/>
              </a:spcBef>
              <a:buClr>
                <a:srgbClr val="1f497d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trike="noStrike" u="none">
                <a:solidFill>
                  <a:srgbClr val="404040"/>
                </a:solidFill>
                <a:effectLst/>
                <a:uFillTx/>
                <a:latin typeface="Calibri"/>
              </a:rPr>
              <a:t>ASYN is required for everything else.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600" strike="noStrike" u="none">
                <a:solidFill>
                  <a:srgbClr val="404040"/>
                </a:solidFill>
                <a:effectLst/>
                <a:uFillTx/>
                <a:latin typeface="Calibri"/>
              </a:rPr>
              <a:t>&lt;motor&gt;/motorApp/Makefile: Define which device/driver modules to build.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56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B37F0C-F127-416F-A7E3-ED6864E46D07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3" dur="indefinite" restart="never" nodeType="tmRoot">
          <p:childTnLst>
            <p:seq>
              <p:cTn id="404" dur="indefinite" nodeType="mainSeq">
                <p:childTnLst>
                  <p:par>
                    <p:cTn id="405" nodeType="clickEffect" fill="hold">
                      <p:stCondLst>
                        <p:cond delay="0"/>
                      </p:stCondLst>
                      <p:childTnLst>
                        <p:par>
                          <p:cTn id="4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2"/>
                </a:solidFill>
                <a:effectLst/>
                <a:uFillTx/>
                <a:latin typeface="Trebuchet MS"/>
              </a:rPr>
              <a:t>Motor module with modern controllers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690480" y="1168560"/>
            <a:ext cx="8190720" cy="5022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Modern controllers:  All low level configuration is typically done outside the motorRecord. Use the vendor-specific development tool/IDE.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Especially: Homing, Velocities, Acceleration, Soft Limits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ESS fork of motor module: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https://github.com/EuropeanSpallationSource/motor/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404040"/>
                </a:solidFill>
                <a:effectLst/>
                <a:uFillTx/>
                <a:latin typeface="Calibri"/>
              </a:rPr>
              <a:t>Example to install everything: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https://github.com/EuropeanSpallationSource/MCAG_setupMotionDemo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1f497d"/>
              </a:buClr>
              <a:buFont typeface="Symbol" charset="2"/>
              <a:buChar char=""/>
            </a:pPr>
            <a:r>
              <a:rPr b="0" lang="en-US" sz="16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3"/>
              </a:rPr>
              <a:t>https://github.com/EuropeanSpallationSource/EuropeanSpallationSource/m-epics-ethercatmc/blob/master/README.md/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57"/>
          </p:nvPr>
        </p:nvSpPr>
        <p:spPr>
          <a:xfrm>
            <a:off x="8610480" y="6489720"/>
            <a:ext cx="383400" cy="36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52D48E-1400-4D93-9980-B5D3BFF8848F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5" dur="indefinite" restart="never" nodeType="tmRoot">
          <p:childTnLst>
            <p:seq>
              <p:cTn id="426" dur="indefinite" nodeType="mainSeq">
                <p:childTnLst>
                  <p:par>
                    <p:cTn id="427" nodeType="clickEffect" fill="hold">
                      <p:stCondLst>
                        <p:cond delay="0"/>
                      </p:stCondLst>
                      <p:childTnLst>
                        <p:par>
                          <p:cTn id="4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10_10_APS_Presentation tmplt">
  <a:themeElements>
    <a:clrScheme name="">
      <a:dk1>
        <a:srgbClr val="404040"/>
      </a:dk1>
      <a:lt1>
        <a:srgbClr val="ffffff"/>
      </a:lt1>
      <a:dk2>
        <a:srgbClr val="1f497d"/>
      </a:dk2>
      <a:lt2>
        <a:srgbClr val="d2d2d2"/>
      </a:lt2>
      <a:accent1>
        <a:srgbClr val="a6c4de"/>
      </a:accent1>
      <a:accent2>
        <a:srgbClr val="9d7d9e"/>
      </a:accent2>
      <a:accent3>
        <a:srgbClr val="ffffff"/>
      </a:accent3>
      <a:accent4>
        <a:srgbClr val="353535"/>
      </a:accent4>
      <a:accent5>
        <a:srgbClr val="d0deec"/>
      </a:accent5>
      <a:accent6>
        <a:srgbClr val="8e718f"/>
      </a:accent6>
      <a:hlink>
        <a:srgbClr val="7ab800"/>
      </a:hlink>
      <a:folHlink>
        <a:srgbClr val="bf5c28"/>
      </a:folHlink>
    </a:clrScheme>
    <a:fontScheme name="Office Theme">
      <a:majorFont>
        <a:latin typeface="Trebuchet MS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10_10_APS_Presentation tmplt</Template>
  <TotalTime>11830</TotalTime>
  <Application>LibreOffice/25.2.2.2$MacOSX_X86_64 LibreOffice_project/7370d4be9e3cf6031a51beef54ff3bda878e3fac</Application>
  <AppVersion>15.0000</AppVersion>
  <Words>2652</Words>
  <Paragraphs>383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2015-02-12T21:39:21Z</dcterms:created>
  <dc:creator/>
  <dc:description/>
  <dc:language>en-US</dc:language>
  <cp:lastModifiedBy/>
  <dcterms:modified xsi:type="dcterms:W3CDTF">2025-04-04T13:51:12Z</dcterms:modified>
  <cp:revision>64</cp:revision>
  <dc:subject/>
  <dc:title>EPICS Training 2027Using Motors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29</vt:i4>
  </property>
  <property fmtid="{D5CDD505-2E9C-101B-9397-08002B2CF9AE}" pid="3" name="PresentationFormat">
    <vt:lpwstr>On-screen Show (4:3)</vt:lpwstr>
  </property>
  <property fmtid="{D5CDD505-2E9C-101B-9397-08002B2CF9AE}" pid="4" name="Slides">
    <vt:i4>38</vt:i4>
  </property>
</Properties>
</file>